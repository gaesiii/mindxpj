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Nêu thay đổi v1.5 được người dùng yêu cầu: bỏ xác nhận từng học sinh. Phê duyệt PM API và validation kỹ thuật là hai việc riêng.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0:45–1:35. Ngưỡng auto khởi đầu cosine0.60/margin0.15 cần calibration. Hai frame kiểm tra nhất quán, không liveness. Không tuyên bố accuracy toàn trường từ ảnh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1:35–2:25. Hiện chưa có bộ ảnh đồng phục trường nên chưa huấn luyện/nghiệm thu model. Có thể demo UI/no-model và cách chuẩn bị ảnh, không giả vờ nhận diện đúng logo.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2:25–3:10. Tạo và sửa một hồ sơ fictitious. Chỉ rõ thay đổi hồ sơ không viết lại snapshot buổi trước; version chống hai người ghi đè.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3:10–4:25. Dùng dữ liệu thử được phép, không public ảnh học sinh. Camera thật cần thiết bị và quyền. Ảnh upload hai tấm kiểm tra pipeline; không phải chứng minh live camera.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4:25–5:15. Mở docs/project-management/evidence/v1.5 thay vì đọc số test cố định trên slide. Workflow mock không chứng minh model accuracy; phân biệt rõ ảnh mặt thật và camera giả lập.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5:15–6:20. Kết luận bằng việc mở backlog và chỉ task nào đã kiểm chứng, task nào thiếu dữ liệu. Không tick toàn bộ task vì có file hoặc vì demo nhỏ chạy được.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Điểm danh tự động với OpenCV</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MVP v1.5 • Django • Demo 5–7 phút</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Bài toán</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Nhận diện mặt, ghi có mặt và giờ đến theo buổi.</a:t>
            </a:r>
          </a:p>
          <a:p>
            <a:pPr>
              <a:spcAft>
                <a:spcPts val="1400"/>
              </a:spcAft>
              <a:defRPr sz="2100" b="0">
                <a:solidFill>
                  <a:srgbClr val="F5F8FC"/>
                </a:solidFill>
                <a:latin typeface="Arial"/>
              </a:defRPr>
            </a:pPr>
            <a:r>
              <a:t>• Giáo viên chỉ xử lý ngoại lệ đồng phục và ghi lý do.</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Phạm vi</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Quản lý lớp và học sinh, sức chứa và sĩ số thực tế.</a:t>
            </a:r>
          </a:p>
          <a:p>
            <a:pPr>
              <a:spcAft>
                <a:spcPts val="1400"/>
              </a:spcAft>
              <a:defRPr sz="2100" b="0">
                <a:solidFill>
                  <a:srgbClr val="F5F8FC"/>
                </a:solidFill>
                <a:latin typeface="Arial"/>
              </a:defRPr>
            </a:pPr>
            <a:r>
              <a:t>• GVCN theo lớp được giao; giám thị quản lý toàn phạm vi.</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Hai ảnh → nhận diện → tự điểm danh</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Server quyết định danh tính, không cần nút confirm</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Chuẩn bị</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Mở buổi đúng ngày/khung giờ và đăng ký 3–10 ảnh mỗi người.</a:t>
            </a:r>
          </a:p>
          <a:p>
            <a:pPr>
              <a:spcAft>
                <a:spcPts val="1400"/>
              </a:spcAft>
              <a:defRPr sz="2100" b="0">
                <a:solidFill>
                  <a:srgbClr val="F5F8FC"/>
                </a:solidFill>
                <a:latin typeface="Arial"/>
              </a:defRPr>
            </a:pPr>
            <a:r>
              <a:t>• Hai ảnh khác nhau phải cùng một mặt rõ trong roster.</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Tự ghi nhận</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YuNet phát hiện/căn chỉnh; SFace so cosine với roster.</a:t>
            </a:r>
          </a:p>
          <a:p>
            <a:pPr>
              <a:spcAft>
                <a:spcPts val="1400"/>
              </a:spcAft>
              <a:defRPr sz="2100" b="0">
                <a:solidFill>
                  <a:srgbClr val="F5F8FC"/>
                </a:solidFill>
                <a:latin typeface="Arial"/>
              </a:defRPr>
            </a:pPr>
            <a:r>
              <a:t>• Đủ điều kiện: PRESENT + giờ đến server; không chắc: chụp lại/manual.</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Đồng phục đúng mẫu trường</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Không dùng màu áo làm bằng chứng logo/mẫu</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Dữ liệu và model</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Bộ ảnh áo riêng, tách train/val/test theo người/buổi.</a:t>
            </a:r>
          </a:p>
          <a:p>
            <a:pPr>
              <a:spcAft>
                <a:spcPts val="1400"/>
              </a:spcAft>
              <a:defRPr sz="2100" b="0">
                <a:solidFill>
                  <a:srgbClr val="F5F8FC"/>
                </a:solidFill>
                <a:latin typeface="Arial"/>
              </a:defRPr>
            </a:pPr>
            <a:r>
              <a:t>• Train offline → đánh giá → ONNX hash/version; runtime OpenCV.</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Ba kết quả</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Đúng mẫu rõ: tự ghi Đạt; nghi sai: giáo viên ghi lý do.</a:t>
            </a:r>
          </a:p>
          <a:p>
            <a:pPr>
              <a:spcAft>
                <a:spcPts val="1400"/>
              </a:spcAft>
              <a:defRPr sz="2100" b="0">
                <a:solidFill>
                  <a:srgbClr val="F5F8FC"/>
                </a:solidFill>
                <a:latin typeface="Arial"/>
              </a:defRPr>
            </a:pPr>
            <a:r>
              <a:t>• Thiếu model hoặc ảnh chưa rõ: Chưa kiểm tra; không phạt tự động.</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CRUD lớp và học sinh</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Sĩ số tự tính, sức chứa chỉnh được</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Lớp</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Mã/tên/khối/GVCN/sức chứa; lưu trữ và khôi phục.</a:t>
            </a:r>
          </a:p>
          <a:p>
            <a:pPr>
              <a:spcAft>
                <a:spcPts val="1400"/>
              </a:spcAft>
              <a:defRPr sz="2100" b="0">
                <a:solidFill>
                  <a:srgbClr val="F5F8FC"/>
                </a:solidFill>
                <a:latin typeface="Arial"/>
              </a:defRPr>
            </a:pPr>
            <a:r>
              <a:t>• Không giảm sức chứa dưới sĩ số, không xóa lịch sử.</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Học sinh</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Thêm/sửa/lưu trữ/khôi phục; giám thị chuyển lớp/sửa mã.</a:t>
            </a:r>
          </a:p>
          <a:p>
            <a:pPr>
              <a:spcAft>
                <a:spcPts val="1400"/>
              </a:spcAft>
              <a:defRPr sz="2100" b="0">
                <a:solidFill>
                  <a:srgbClr val="F5F8FC"/>
                </a:solidFill>
                <a:latin typeface="Arial"/>
              </a:defRPr>
            </a:pPr>
            <a:r>
              <a:t>• Học sinh mới vào buổi sau hoặc bổ sung OPEN có kiểm soát.</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Demo trực tiếp</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UI → API có scope/CSRF → database</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Thực hiện</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Đăng nhập, chọn lớp/buổi OPEN, đăng ký mẫu mặt riêng.</a:t>
            </a:r>
          </a:p>
          <a:p>
            <a:pPr>
              <a:spcAft>
                <a:spcPts val="1400"/>
              </a:spcAft>
              <a:defRPr sz="2100" b="0">
                <a:solidFill>
                  <a:srgbClr val="F5F8FC"/>
                </a:solidFill>
                <a:latin typeface="Arial"/>
              </a:defRPr>
            </a:pPr>
            <a:r>
              <a:t>• Quét cặp ảnh ngoài enrollment: tự hiện Có mặt, không confirm.</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Đối soát</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Quét lại giữ giờ đến đầu; người lạ không ghi có mặt.</a:t>
            </a:r>
          </a:p>
          <a:p>
            <a:pPr>
              <a:spcAft>
                <a:spcPts val="1400"/>
              </a:spcAft>
              <a:defRPr sz="2100" b="0">
                <a:solidFill>
                  <a:srgbClr val="F5F8FC"/>
                </a:solidFill>
                <a:latin typeface="Arial"/>
              </a:defRPr>
            </a:pPr>
            <a:r>
              <a:t>• Mở Đồng phục, báo cáo và xuất CSV/XLSX; UNKNOWN vẫn riêng.</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Kiểm chứng và bảo vệ dữ liệu</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Bằng chứng kỹ thuật, không thay PM acceptance</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Các kiểm tra</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Role/CSRF/private ảnh, stale version, retry và rollback.</a:t>
            </a:r>
          </a:p>
          <a:p>
            <a:pPr>
              <a:spcAft>
                <a:spcPts val="1400"/>
              </a:spcAft>
              <a:defRPr sz="2100" b="0">
                <a:solidFill>
                  <a:srgbClr val="F5F8FC"/>
                </a:solidFill>
                <a:latin typeface="Arial"/>
              </a:defRPr>
            </a:pPr>
            <a:r>
              <a:t>• Review độc lập; migrate DB cũ, ảnh mặt thật và browser.</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Dữ liệu</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Crop mặt và áo private, không lưu video/frame phân tích.</a:t>
            </a:r>
          </a:p>
          <a:p>
            <a:pPr>
              <a:spcAft>
                <a:spcPts val="1400"/>
              </a:spcAft>
              <a:defRPr sz="2100" b="0">
                <a:solidFill>
                  <a:srgbClr val="F5F8FC"/>
                </a:solidFill>
                <a:latin typeface="Arial"/>
              </a:defRPr>
            </a:pPr>
            <a:r>
              <a:t>• Quyết định giáo viên không bị auto ghi đè; audit rõ nguồn.</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8"/>
        </a:solidFill>
        <a:effectLst/>
      </p:bgPr>
    </p:bg>
    <p:spTree>
      <p:nvGrpSpPr>
        <p:cNvPr id="1" name=""/>
        <p:cNvGrpSpPr/>
        <p:nvPr/>
      </p:nvGrpSpPr>
      <p:grpSpPr/>
      <p:sp>
        <p:nvSpPr>
          <p:cNvPr id="2" name="TextBox 1"/>
          <p:cNvSpPr txBox="1"/>
          <p:nvPr/>
        </p:nvSpPr>
        <p:spPr>
          <a:xfrm>
            <a:off x="594360" y="438912"/>
            <a:ext cx="10972800" cy="640080"/>
          </a:xfrm>
          <a:prstGeom prst="rect">
            <a:avLst/>
          </a:prstGeom>
          <a:noFill/>
        </p:spPr>
        <p:txBody>
          <a:bodyPr wrap="square" lIns="18288" rIns="18288" tIns="18288" bIns="18288">
            <a:spAutoFit/>
          </a:bodyPr>
          <a:lstStyle/>
          <a:p>
            <a:pPr>
              <a:spcAft>
                <a:spcPts val="1400"/>
              </a:spcAft>
              <a:defRPr sz="3300" b="1">
                <a:solidFill>
                  <a:srgbClr val="F5F8FC"/>
                </a:solidFill>
                <a:latin typeface="Arial"/>
              </a:defRPr>
            </a:pPr>
            <a:r>
              <a:t>Giới hạn và phần còn chờ</a:t>
            </a:r>
          </a:p>
        </p:txBody>
      </p:sp>
      <p:sp>
        <p:nvSpPr>
          <p:cNvPr id="3" name="TextBox 2"/>
          <p:cNvSpPr txBox="1"/>
          <p:nvPr/>
        </p:nvSpPr>
        <p:spPr>
          <a:xfrm>
            <a:off x="594360" y="1143000"/>
            <a:ext cx="10972800" cy="594360"/>
          </a:xfrm>
          <a:prstGeom prst="rect">
            <a:avLst/>
          </a:prstGeom>
          <a:noFill/>
        </p:spPr>
        <p:txBody>
          <a:bodyPr wrap="square" lIns="18288" rIns="18288" tIns="18288" bIns="18288">
            <a:spAutoFit/>
          </a:bodyPr>
          <a:lstStyle/>
          <a:p>
            <a:pPr>
              <a:spcAft>
                <a:spcPts val="1400"/>
              </a:spcAft>
              <a:defRPr sz="1900" b="0">
                <a:solidFill>
                  <a:srgbClr val="55D5C6"/>
                </a:solidFill>
                <a:latin typeface="Arial"/>
              </a:defRPr>
            </a:pPr>
            <a:r>
              <a:t>Bộ ảnh trường là đầu vào cần thiết</a:t>
            </a:r>
          </a:p>
        </p:txBody>
      </p:sp>
      <p:sp>
        <p:nvSpPr>
          <p:cNvPr id="4" name="Rounded Rectangle 3"/>
          <p:cNvSpPr/>
          <p:nvPr/>
        </p:nvSpPr>
        <p:spPr>
          <a:xfrm>
            <a:off x="594360"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Chưa nghiệm thu</a:t>
            </a:r>
          </a:p>
        </p:txBody>
      </p:sp>
      <p:sp>
        <p:nvSpPr>
          <p:cNvPr id="6" name="TextBox 5"/>
          <p:cNvSpPr txBox="1"/>
          <p:nvPr/>
        </p:nvSpPr>
        <p:spPr>
          <a:xfrm>
            <a:off x="822960"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Cần ảnh trường và đối chứng logo/mẫu, ánh sáng/che áo.</a:t>
            </a:r>
          </a:p>
          <a:p>
            <a:pPr>
              <a:spcAft>
                <a:spcPts val="1400"/>
              </a:spcAft>
              <a:defRPr sz="2100" b="0">
                <a:solidFill>
                  <a:srgbClr val="F5F8FC"/>
                </a:solidFill>
                <a:latin typeface="Arial"/>
              </a:defRPr>
            </a:pPr>
            <a:r>
              <a:t>• Chưa đo camera vật lý, độ chính xác toàn trường hay liveness.</a:t>
            </a:r>
          </a:p>
        </p:txBody>
      </p:sp>
      <p:sp>
        <p:nvSpPr>
          <p:cNvPr id="7" name="Rounded Rectangle 6"/>
          <p:cNvSpPr/>
          <p:nvPr/>
        </p:nvSpPr>
        <p:spPr>
          <a:xfrm>
            <a:off x="6236208" y="1938528"/>
            <a:ext cx="5477256" cy="3995928"/>
          </a:xfrm>
          <a:prstGeom prst="roundRect">
            <a:avLst/>
          </a:prstGeom>
          <a:solidFill>
            <a:srgbClr val="1C3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148840"/>
            <a:ext cx="4983480" cy="502920"/>
          </a:xfrm>
          <a:prstGeom prst="rect">
            <a:avLst/>
          </a:prstGeom>
          <a:noFill/>
        </p:spPr>
        <p:txBody>
          <a:bodyPr wrap="square" lIns="18288" rIns="18288" tIns="18288" bIns="18288">
            <a:spAutoFit/>
          </a:bodyPr>
          <a:lstStyle/>
          <a:p>
            <a:pPr>
              <a:spcAft>
                <a:spcPts val="1400"/>
              </a:spcAft>
              <a:defRPr sz="2400" b="1">
                <a:solidFill>
                  <a:srgbClr val="55D5C6"/>
                </a:solidFill>
                <a:latin typeface="Arial"/>
              </a:defRPr>
            </a:pPr>
            <a:r>
              <a:t>Demo Vercel</a:t>
            </a:r>
          </a:p>
        </p:txBody>
      </p:sp>
      <p:sp>
        <p:nvSpPr>
          <p:cNvPr id="9" name="TextBox 8"/>
          <p:cNvSpPr txBox="1"/>
          <p:nvPr/>
        </p:nvSpPr>
        <p:spPr>
          <a:xfrm>
            <a:off x="6464808" y="2852928"/>
            <a:ext cx="4965192" cy="2816352"/>
          </a:xfrm>
          <a:prstGeom prst="rect">
            <a:avLst/>
          </a:prstGeom>
          <a:noFill/>
        </p:spPr>
        <p:txBody>
          <a:bodyPr wrap="square" lIns="18288" rIns="18288" tIns="18288" bIns="18288">
            <a:spAutoFit/>
          </a:bodyPr>
          <a:lstStyle/>
          <a:p>
            <a:pPr>
              <a:spcAft>
                <a:spcPts val="1400"/>
              </a:spcAft>
              <a:defRPr sz="2100" b="0">
                <a:solidFill>
                  <a:srgbClr val="F5F8FC"/>
                </a:solidFill>
                <a:latin typeface="Arial"/>
              </a:defRPr>
            </a:pPr>
            <a:r>
              <a:t>• SQLite tạm theo instance, không đảm bảo dữ liệu dùng chung.</a:t>
            </a:r>
          </a:p>
          <a:p>
            <a:pPr>
              <a:spcAft>
                <a:spcPts val="1400"/>
              </a:spcAft>
              <a:defRPr sz="2100" b="0">
                <a:solidFill>
                  <a:srgbClr val="F5F8FC"/>
                </a:solidFill>
                <a:latin typeface="Arial"/>
              </a:defRPr>
            </a:pPr>
            <a:r>
              <a:t>• API/build được chuẩn bị; người dùng tự deploy, PM gate riêng.</a:t>
            </a:r>
          </a:p>
        </p:txBody>
      </p:sp>
      <p:sp>
        <p:nvSpPr>
          <p:cNvPr id="10" name="TextBox 9"/>
          <p:cNvSpPr txBox="1"/>
          <p:nvPr/>
        </p:nvSpPr>
        <p:spPr>
          <a:xfrm>
            <a:off x="594360" y="6382512"/>
            <a:ext cx="10515600" cy="228600"/>
          </a:xfrm>
          <a:prstGeom prst="rect">
            <a:avLst/>
          </a:prstGeom>
          <a:noFill/>
        </p:spPr>
        <p:txBody>
          <a:bodyPr wrap="square" lIns="18288" rIns="18288" tIns="18288" bIns="18288">
            <a:spAutoFit/>
          </a:bodyPr>
          <a:lstStyle/>
          <a:p>
            <a:pPr>
              <a:spcAft>
                <a:spcPts val="1400"/>
              </a:spcAft>
              <a:defRPr sz="1100" b="0">
                <a:solidFill>
                  <a:srgbClr val="B6C8DB"/>
                </a:solidFill>
                <a:latin typeface="Arial"/>
              </a:defRPr>
            </a:pPr>
            <a:r>
              <a:t>OpenCV MVP v1.5 | Tự điểm danh | Giáo viên xử lý ngoại lệ</a:t>
            </a:r>
          </a:p>
        </p:txBody>
      </p:sp>
      <p:sp>
        <p:nvSpPr>
          <p:cNvPr id="11" name="TextBox 10"/>
          <p:cNvSpPr txBox="1"/>
          <p:nvPr/>
        </p:nvSpPr>
        <p:spPr>
          <a:xfrm>
            <a:off x="11018520" y="6364224"/>
            <a:ext cx="594360" cy="274320"/>
          </a:xfrm>
          <a:prstGeom prst="rect">
            <a:avLst/>
          </a:prstGeom>
          <a:noFill/>
        </p:spPr>
        <p:txBody>
          <a:bodyPr wrap="square" lIns="18288" rIns="18288" tIns="18288" bIns="18288">
            <a:spAutoFit/>
          </a:bodyPr>
          <a:lstStyle/>
          <a:p>
            <a:pPr>
              <a:spcAft>
                <a:spcPts val="1400"/>
              </a:spcAft>
              <a:defRPr sz="1200" b="0">
                <a:solidFill>
                  <a:srgbClr val="FFD18A"/>
                </a:solidFill>
                <a:latin typeface="Arial"/>
              </a:defRPr>
            </a:pPr>
            <a: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