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0:00–0:50. Giới thiệu bài toán và vai trò. Nói rõ UI local được người dùng cho phép trước gate ngày18/10/2026; browser/camera cần evidence riêng. Không công bố độ chính xác hoặc chống giả khi chưa có đánh giá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0:50–1:40. Trình bày đường đi dữ liệu. Enrollment và ảnh đánh giá phải tách biệt. UNKNOWN, nhiều mặt hoặc ảnh mờ chuyển chụp lại/manual. PRESENT chỉ được ghi sau xác nhận hợp lệ; không tự suy đồng phục đạt.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1:40–2:25. YuNet phát hiện5landmark, SFace so cosine trong roster, HSV chỉ đo màu vùng áo. Service attendance là nơi ghi kết quả. Mẫu crop112x112 và embedding128float lưu private trong DB; frame phân tích không lưu. Mẫu LBPH cũ cần enrollment lại3–10ảnh. Cosine≥0.45 và margin≥0.10 chỉ là ngưỡng demo, không phải xác suất. Models chuẩn bị trước, request không tải network. QR mặc định tắt, dữ liệu và migrations cũ giữ lại.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2:25–3:50. Mở http://127.0.0.1:8000/; API client api-requests.http là dự phòng. UI dùng API cũ và quyền cũ. Mẫu multipart images lặp 3–10 file; scan chỉ một image, không student_id. Nhìn người thực tế trước confirm. arrived_at lấy scanned_at server. Chỉ chọn COMPLIANT sau kiểm tra thực tế; có thể bỏ uniform để kiểm tra sau.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3:50–4:40. Cho thấy một trường hợp không nhận diện hoặc dùng dữ liệu thử có nhãn. Không sửa student_id để chọn người trong confirm. Mẫu mới/xóa mẫu, manual, transfer và close làm proposal cũ không còn dùng để ghi attendance.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4:40–5:35. Mở evidence mới của backend thay vì đọc số test trên slide. Không lấy126test QR lịch sử làm kết quả vision. Giải thích phần nào dùng fixture/mocked detection và phần nào chạy SFace/HSV thật. Checklist thiết bị thật chưa hoàn tất nếu chưa có log và reviewer.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5:35–6:30, dành phần còn lại cho câu hỏi. Cần đánh giá trên bộ ảnh được phép, tách enrollment/evaluation trước mọi tuyên bố accuracy. Rate limit không phải rolling window hoặc giới hạn toàn hệ thống nhiều process. UI local đã được cho phép trước gate bằng yêu cầu làm luôn UI để demo. Ngoại lệ không phê duyệt API hoặc deploy.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338"/>
        </a:solidFill>
        <a:effectLst/>
      </p:bgPr>
    </p:bg>
    <p:spTree>
      <p:nvGrpSpPr>
        <p:cNvPr id="1" name=""/>
        <p:cNvGrpSpPr/>
        <p:nvPr/>
      </p:nvGrpSpPr>
      <p:grpSpPr/>
      <p:sp>
        <p:nvSpPr>
          <p:cNvPr id="2" name="TextBox 1"/>
          <p:cNvSpPr txBox="1"/>
          <p:nvPr/>
        </p:nvSpPr>
        <p:spPr>
          <a:xfrm>
            <a:off x="594360" y="438912"/>
            <a:ext cx="10972800" cy="640080"/>
          </a:xfrm>
          <a:prstGeom prst="rect">
            <a:avLst/>
          </a:prstGeom>
          <a:noFill/>
        </p:spPr>
        <p:txBody>
          <a:bodyPr wrap="square" lIns="18288" rIns="18288" tIns="18288" bIns="18288">
            <a:spAutoFit/>
          </a:bodyPr>
          <a:lstStyle/>
          <a:p>
            <a:pPr>
              <a:spcAft>
                <a:spcPts val="1400"/>
              </a:spcAft>
              <a:defRPr sz="3300" b="1">
                <a:solidFill>
                  <a:srgbClr val="F5F8FC"/>
                </a:solidFill>
                <a:latin typeface="Arial"/>
              </a:defRPr>
            </a:pPr>
            <a:r>
              <a:t>Điểm danh với OpenCV</a:t>
            </a:r>
          </a:p>
        </p:txBody>
      </p:sp>
      <p:sp>
        <p:nvSpPr>
          <p:cNvPr id="3" name="TextBox 2"/>
          <p:cNvSpPr txBox="1"/>
          <p:nvPr/>
        </p:nvSpPr>
        <p:spPr>
          <a:xfrm>
            <a:off x="594360" y="1143000"/>
            <a:ext cx="10972800" cy="594360"/>
          </a:xfrm>
          <a:prstGeom prst="rect">
            <a:avLst/>
          </a:prstGeom>
          <a:noFill/>
        </p:spPr>
        <p:txBody>
          <a:bodyPr wrap="square" lIns="18288" rIns="18288" tIns="18288" bIns="18288">
            <a:spAutoFit/>
          </a:bodyPr>
          <a:lstStyle/>
          <a:p>
            <a:pPr>
              <a:spcAft>
                <a:spcPts val="1400"/>
              </a:spcAft>
              <a:defRPr sz="1900" b="0">
                <a:solidFill>
                  <a:srgbClr val="55D5C6"/>
                </a:solidFill>
                <a:latin typeface="Arial"/>
              </a:defRPr>
            </a:pPr>
            <a:r>
              <a:t>MVP v1.4 • Django UI local • Demo 5–7 phút</a:t>
            </a:r>
          </a:p>
        </p:txBody>
      </p:sp>
      <p:sp>
        <p:nvSpPr>
          <p:cNvPr id="4" name="Rounded Rectangle 3"/>
          <p:cNvSpPr/>
          <p:nvPr/>
        </p:nvSpPr>
        <p:spPr>
          <a:xfrm>
            <a:off x="594360"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Bài toán</a:t>
            </a:r>
          </a:p>
        </p:txBody>
      </p:sp>
      <p:sp>
        <p:nvSpPr>
          <p:cNvPr id="6" name="TextBox 5"/>
          <p:cNvSpPr txBox="1"/>
          <p:nvPr/>
        </p:nvSpPr>
        <p:spPr>
          <a:xfrm>
            <a:off x="822960"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Ghi nhận có mặt, giờ đến và đồng phục theo từng buổi học.</a:t>
            </a:r>
          </a:p>
          <a:p>
            <a:pPr>
              <a:spcAft>
                <a:spcPts val="1400"/>
              </a:spcAft>
              <a:defRPr sz="2100" b="0">
                <a:solidFill>
                  <a:srgbClr val="F5F8FC"/>
                </a:solidFill>
                <a:latin typeface="Arial"/>
              </a:defRPr>
            </a:pPr>
            <a:r>
              <a:t>• GVCN xem lớp được giao; giám thị quản lý toàn bộ.</a:t>
            </a:r>
          </a:p>
        </p:txBody>
      </p:sp>
      <p:sp>
        <p:nvSpPr>
          <p:cNvPr id="7" name="Rounded Rectangle 6"/>
          <p:cNvSpPr/>
          <p:nvPr/>
        </p:nvSpPr>
        <p:spPr>
          <a:xfrm>
            <a:off x="6236208"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4808"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Nguyên tắc</a:t>
            </a:r>
          </a:p>
        </p:txBody>
      </p:sp>
      <p:sp>
        <p:nvSpPr>
          <p:cNvPr id="9" name="TextBox 8"/>
          <p:cNvSpPr txBox="1"/>
          <p:nvPr/>
        </p:nvSpPr>
        <p:spPr>
          <a:xfrm>
            <a:off x="6464808"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OpenCV chỉ gợi ý; nhân sự kiểm tra người thực tế rồi xác nhận.</a:t>
            </a:r>
          </a:p>
          <a:p>
            <a:pPr>
              <a:spcAft>
                <a:spcPts val="1400"/>
              </a:spcAft>
              <a:defRPr sz="2100" b="0">
                <a:solidFill>
                  <a:srgbClr val="F5F8FC"/>
                </a:solidFill>
                <a:latin typeface="Arial"/>
              </a:defRPr>
            </a:pPr>
            <a:r>
              <a:t>• Không chắc chắn hoặc camera lỗi: điểm danh thủ công.</a:t>
            </a:r>
          </a:p>
        </p:txBody>
      </p:sp>
      <p:sp>
        <p:nvSpPr>
          <p:cNvPr id="10" name="TextBox 9"/>
          <p:cNvSpPr txBox="1"/>
          <p:nvPr/>
        </p:nvSpPr>
        <p:spPr>
          <a:xfrm>
            <a:off x="594360" y="6382512"/>
            <a:ext cx="10515600" cy="228600"/>
          </a:xfrm>
          <a:prstGeom prst="rect">
            <a:avLst/>
          </a:prstGeom>
          <a:noFill/>
        </p:spPr>
        <p:txBody>
          <a:bodyPr wrap="square" lIns="18288" rIns="18288" tIns="18288" bIns="18288">
            <a:spAutoFit/>
          </a:bodyPr>
          <a:lstStyle/>
          <a:p>
            <a:pPr>
              <a:spcAft>
                <a:spcPts val="1400"/>
              </a:spcAft>
              <a:defRPr sz="1100" b="0">
                <a:solidFill>
                  <a:srgbClr val="B6C8DB"/>
                </a:solidFill>
                <a:latin typeface="Arial"/>
              </a:defRPr>
            </a:pPr>
            <a:r>
              <a:t>OpenCV MVP v1.4 | UI local | Nhân sự xác nhận bắt buộc</a:t>
            </a:r>
          </a:p>
        </p:txBody>
      </p:sp>
      <p:sp>
        <p:nvSpPr>
          <p:cNvPr id="11" name="TextBox 10"/>
          <p:cNvSpPr txBox="1"/>
          <p:nvPr/>
        </p:nvSpPr>
        <p:spPr>
          <a:xfrm>
            <a:off x="11018520" y="6364224"/>
            <a:ext cx="594360" cy="274320"/>
          </a:xfrm>
          <a:prstGeom prst="rect">
            <a:avLst/>
          </a:prstGeom>
          <a:noFill/>
        </p:spPr>
        <p:txBody>
          <a:bodyPr wrap="square" lIns="18288" rIns="18288" tIns="18288" bIns="18288">
            <a:spAutoFit/>
          </a:bodyPr>
          <a:lstStyle/>
          <a:p>
            <a:pPr>
              <a:spcAft>
                <a:spcPts val="1400"/>
              </a:spcAft>
              <a:defRPr sz="1200" b="0">
                <a:solidFill>
                  <a:srgbClr val="FFD18A"/>
                </a:solidFill>
                <a:latin typeface="Arial"/>
              </a:defRPr>
            </a:pPr>
            <a:r>
              <a:t>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338"/>
        </a:solidFill>
        <a:effectLst/>
      </p:bgPr>
    </p:bg>
    <p:spTree>
      <p:nvGrpSpPr>
        <p:cNvPr id="1" name=""/>
        <p:cNvGrpSpPr/>
        <p:nvPr/>
      </p:nvGrpSpPr>
      <p:grpSpPr/>
      <p:sp>
        <p:nvSpPr>
          <p:cNvPr id="2" name="TextBox 1"/>
          <p:cNvSpPr txBox="1"/>
          <p:nvPr/>
        </p:nvSpPr>
        <p:spPr>
          <a:xfrm>
            <a:off x="594360" y="438912"/>
            <a:ext cx="10972800" cy="640080"/>
          </a:xfrm>
          <a:prstGeom prst="rect">
            <a:avLst/>
          </a:prstGeom>
          <a:noFill/>
        </p:spPr>
        <p:txBody>
          <a:bodyPr wrap="square" lIns="18288" rIns="18288" tIns="18288" bIns="18288">
            <a:spAutoFit/>
          </a:bodyPr>
          <a:lstStyle/>
          <a:p>
            <a:pPr>
              <a:spcAft>
                <a:spcPts val="1400"/>
              </a:spcAft>
              <a:defRPr sz="3300" b="1">
                <a:solidFill>
                  <a:srgbClr val="F5F8FC"/>
                </a:solidFill>
                <a:latin typeface="Arial"/>
              </a:defRPr>
            </a:pPr>
            <a:r>
              <a:t>Một ảnh → một đề xuất → xác nhận</a:t>
            </a:r>
          </a:p>
        </p:txBody>
      </p:sp>
      <p:sp>
        <p:nvSpPr>
          <p:cNvPr id="3" name="TextBox 2"/>
          <p:cNvSpPr txBox="1"/>
          <p:nvPr/>
        </p:nvSpPr>
        <p:spPr>
          <a:xfrm>
            <a:off x="594360" y="1143000"/>
            <a:ext cx="10972800" cy="594360"/>
          </a:xfrm>
          <a:prstGeom prst="rect">
            <a:avLst/>
          </a:prstGeom>
          <a:noFill/>
        </p:spPr>
        <p:txBody>
          <a:bodyPr wrap="square" lIns="18288" rIns="18288" tIns="18288" bIns="18288">
            <a:spAutoFit/>
          </a:bodyPr>
          <a:lstStyle/>
          <a:p>
            <a:pPr>
              <a:spcAft>
                <a:spcPts val="1400"/>
              </a:spcAft>
              <a:defRPr sz="1900" b="0">
                <a:solidFill>
                  <a:srgbClr val="55D5C6"/>
                </a:solidFill>
                <a:latin typeface="Arial"/>
              </a:defRPr>
            </a:pPr>
            <a:r>
              <a:t>Scan không tự ghi PRESENT</a:t>
            </a:r>
          </a:p>
        </p:txBody>
      </p:sp>
      <p:sp>
        <p:nvSpPr>
          <p:cNvPr id="4" name="Rounded Rectangle 3"/>
          <p:cNvSpPr/>
          <p:nvPr/>
        </p:nvSpPr>
        <p:spPr>
          <a:xfrm>
            <a:off x="594360"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1. Chuẩn bị</a:t>
            </a:r>
          </a:p>
        </p:txBody>
      </p:sp>
      <p:sp>
        <p:nvSpPr>
          <p:cNvPr id="6" name="TextBox 5"/>
          <p:cNvSpPr txBox="1"/>
          <p:nvPr/>
        </p:nvSpPr>
        <p:spPr>
          <a:xfrm>
            <a:off x="822960"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Nhân sự đăng nhập và mở buổi đúng quyền, ngày và khung giờ.</a:t>
            </a:r>
          </a:p>
          <a:p>
            <a:pPr>
              <a:spcAft>
                <a:spcPts val="1400"/>
              </a:spcAft>
              <a:defRPr sz="2100" b="0">
                <a:solidFill>
                  <a:srgbClr val="F5F8FC"/>
                </a:solidFill>
                <a:latin typeface="Arial"/>
              </a:defRPr>
            </a:pPr>
            <a:r>
              <a:t>• Đăng ký riêng 3–10 mẫu của mỗi người; ảnh hồ sơ không tự thành mẫu.</a:t>
            </a:r>
          </a:p>
        </p:txBody>
      </p:sp>
      <p:sp>
        <p:nvSpPr>
          <p:cNvPr id="7" name="Rounded Rectangle 6"/>
          <p:cNvSpPr/>
          <p:nvPr/>
        </p:nvSpPr>
        <p:spPr>
          <a:xfrm>
            <a:off x="6236208"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4808"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2. Gợi ý và quyết định</a:t>
            </a:r>
          </a:p>
        </p:txBody>
      </p:sp>
      <p:sp>
        <p:nvSpPr>
          <p:cNvPr id="9" name="TextBox 8"/>
          <p:cNvSpPr txBox="1"/>
          <p:nvPr/>
        </p:nvSpPr>
        <p:spPr>
          <a:xfrm>
            <a:off x="6464808"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Gửi một ảnh: ứng viên + màu áo; proposal PENDING tối đa 120 giây.</a:t>
            </a:r>
          </a:p>
          <a:p>
            <a:pPr>
              <a:spcAft>
                <a:spcPts val="1400"/>
              </a:spcAft>
              <a:defRPr sz="2100" b="0">
                <a:solidFill>
                  <a:srgbClr val="F5F8FC"/>
                </a:solidFill>
                <a:latin typeface="Arial"/>
              </a:defRPr>
            </a:pPr>
            <a:r>
              <a:t>• Nhìn người thật → xác nhận danh tính → attendance source VISION.</a:t>
            </a:r>
          </a:p>
        </p:txBody>
      </p:sp>
      <p:sp>
        <p:nvSpPr>
          <p:cNvPr id="10" name="TextBox 9"/>
          <p:cNvSpPr txBox="1"/>
          <p:nvPr/>
        </p:nvSpPr>
        <p:spPr>
          <a:xfrm>
            <a:off x="594360" y="6382512"/>
            <a:ext cx="10515600" cy="228600"/>
          </a:xfrm>
          <a:prstGeom prst="rect">
            <a:avLst/>
          </a:prstGeom>
          <a:noFill/>
        </p:spPr>
        <p:txBody>
          <a:bodyPr wrap="square" lIns="18288" rIns="18288" tIns="18288" bIns="18288">
            <a:spAutoFit/>
          </a:bodyPr>
          <a:lstStyle/>
          <a:p>
            <a:pPr>
              <a:spcAft>
                <a:spcPts val="1400"/>
              </a:spcAft>
              <a:defRPr sz="1100" b="0">
                <a:solidFill>
                  <a:srgbClr val="B6C8DB"/>
                </a:solidFill>
                <a:latin typeface="Arial"/>
              </a:defRPr>
            </a:pPr>
            <a:r>
              <a:t>OpenCV MVP v1.4 | UI local | Nhân sự xác nhận bắt buộc</a:t>
            </a:r>
          </a:p>
        </p:txBody>
      </p:sp>
      <p:sp>
        <p:nvSpPr>
          <p:cNvPr id="11" name="TextBox 10"/>
          <p:cNvSpPr txBox="1"/>
          <p:nvPr/>
        </p:nvSpPr>
        <p:spPr>
          <a:xfrm>
            <a:off x="11018520" y="6364224"/>
            <a:ext cx="594360" cy="274320"/>
          </a:xfrm>
          <a:prstGeom prst="rect">
            <a:avLst/>
          </a:prstGeom>
          <a:noFill/>
        </p:spPr>
        <p:txBody>
          <a:bodyPr wrap="square" lIns="18288" rIns="18288" tIns="18288" bIns="18288">
            <a:spAutoFit/>
          </a:bodyPr>
          <a:lstStyle/>
          <a:p>
            <a:pPr>
              <a:spcAft>
                <a:spcPts val="1400"/>
              </a:spcAft>
              <a:defRPr sz="1200" b="0">
                <a:solidFill>
                  <a:srgbClr val="FFD18A"/>
                </a:solidFill>
                <a:latin typeface="Arial"/>
              </a:defRPr>
            </a:pPr>
            <a:r>
              <a:t>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2338"/>
        </a:solidFill>
        <a:effectLst/>
      </p:bgPr>
    </p:bg>
    <p:spTree>
      <p:nvGrpSpPr>
        <p:cNvPr id="1" name=""/>
        <p:cNvGrpSpPr/>
        <p:nvPr/>
      </p:nvGrpSpPr>
      <p:grpSpPr/>
      <p:sp>
        <p:nvSpPr>
          <p:cNvPr id="2" name="TextBox 1"/>
          <p:cNvSpPr txBox="1"/>
          <p:nvPr/>
        </p:nvSpPr>
        <p:spPr>
          <a:xfrm>
            <a:off x="594360" y="438912"/>
            <a:ext cx="10972800" cy="640080"/>
          </a:xfrm>
          <a:prstGeom prst="rect">
            <a:avLst/>
          </a:prstGeom>
          <a:noFill/>
        </p:spPr>
        <p:txBody>
          <a:bodyPr wrap="square" lIns="18288" rIns="18288" tIns="18288" bIns="18288">
            <a:spAutoFit/>
          </a:bodyPr>
          <a:lstStyle/>
          <a:p>
            <a:pPr>
              <a:spcAft>
                <a:spcPts val="1400"/>
              </a:spcAft>
              <a:defRPr sz="3300" b="1">
                <a:solidFill>
                  <a:srgbClr val="F5F8FC"/>
                </a:solidFill>
                <a:latin typeface="Arial"/>
              </a:defRPr>
            </a:pPr>
            <a:r>
              <a:t>Kiến trúc cục bộ, dữ liệu private</a:t>
            </a:r>
          </a:p>
        </p:txBody>
      </p:sp>
      <p:sp>
        <p:nvSpPr>
          <p:cNvPr id="3" name="TextBox 2"/>
          <p:cNvSpPr txBox="1"/>
          <p:nvPr/>
        </p:nvSpPr>
        <p:spPr>
          <a:xfrm>
            <a:off x="594360" y="1143000"/>
            <a:ext cx="10972800" cy="594360"/>
          </a:xfrm>
          <a:prstGeom prst="rect">
            <a:avLst/>
          </a:prstGeom>
          <a:noFill/>
        </p:spPr>
        <p:txBody>
          <a:bodyPr wrap="square" lIns="18288" rIns="18288" tIns="18288" bIns="18288">
            <a:spAutoFit/>
          </a:bodyPr>
          <a:lstStyle/>
          <a:p>
            <a:pPr>
              <a:spcAft>
                <a:spcPts val="1400"/>
              </a:spcAft>
              <a:defRPr sz="1900" b="0">
                <a:solidFill>
                  <a:srgbClr val="55D5C6"/>
                </a:solidFill>
                <a:latin typeface="Arial"/>
              </a:defRPr>
            </a:pPr>
            <a:r>
              <a:t>Django session + CSRF + kiểm tra phạm vi lớp ở từng API</a:t>
            </a:r>
          </a:p>
        </p:txBody>
      </p:sp>
      <p:sp>
        <p:nvSpPr>
          <p:cNvPr id="4" name="Rounded Rectangle 3"/>
          <p:cNvSpPr/>
          <p:nvPr/>
        </p:nvSpPr>
        <p:spPr>
          <a:xfrm>
            <a:off x="594360" y="2011680"/>
            <a:ext cx="2697480" cy="3383280"/>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2212848"/>
            <a:ext cx="2377440" cy="502920"/>
          </a:xfrm>
          <a:prstGeom prst="rect">
            <a:avLst/>
          </a:prstGeom>
          <a:noFill/>
        </p:spPr>
        <p:txBody>
          <a:bodyPr wrap="square" lIns="18288" rIns="18288" tIns="18288" bIns="18288">
            <a:spAutoFit/>
          </a:bodyPr>
          <a:lstStyle/>
          <a:p>
            <a:pPr>
              <a:spcAft>
                <a:spcPts val="1400"/>
              </a:spcAft>
              <a:defRPr sz="2200" b="1">
                <a:solidFill>
                  <a:srgbClr val="55D5C6"/>
                </a:solidFill>
                <a:latin typeface="Arial"/>
              </a:defRPr>
            </a:pPr>
            <a:r>
              <a:t>Django UI local</a:t>
            </a:r>
          </a:p>
        </p:txBody>
      </p:sp>
      <p:sp>
        <p:nvSpPr>
          <p:cNvPr id="6" name="TextBox 5"/>
          <p:cNvSpPr txBox="1"/>
          <p:nvPr/>
        </p:nvSpPr>
        <p:spPr>
          <a:xfrm>
            <a:off x="758952" y="2852928"/>
            <a:ext cx="2377440" cy="2377440"/>
          </a:xfrm>
          <a:prstGeom prst="rect">
            <a:avLst/>
          </a:prstGeom>
          <a:noFill/>
        </p:spPr>
        <p:txBody>
          <a:bodyPr wrap="square" lIns="18288" rIns="18288" tIns="18288" bIns="18288">
            <a:spAutoFit/>
          </a:bodyPr>
          <a:lstStyle/>
          <a:p>
            <a:pPr>
              <a:spcAft>
                <a:spcPts val="1400"/>
              </a:spcAft>
              <a:defRPr sz="2000" b="0">
                <a:solidFill>
                  <a:srgbClr val="F5F8FC"/>
                </a:solidFill>
                <a:latin typeface="Arial"/>
              </a:defRPr>
            </a:pPr>
            <a:r>
              <a:t>Cookie/session của staff</a:t>
            </a:r>
          </a:p>
          <a:p>
            <a:pPr>
              <a:spcAft>
                <a:spcPts val="1400"/>
              </a:spcAft>
              <a:defRPr sz="2000" b="0">
                <a:solidFill>
                  <a:srgbClr val="F5F8FC"/>
                </a:solidFill>
                <a:latin typeface="Arial"/>
              </a:defRPr>
            </a:pPr>
            <a:r>
              <a:t>Camera hoặc upload ảnh</a:t>
            </a:r>
          </a:p>
          <a:p>
            <a:pPr>
              <a:spcAft>
                <a:spcPts val="1400"/>
              </a:spcAft>
              <a:defRPr sz="2000" b="0">
                <a:solidFill>
                  <a:srgbClr val="F5F8FC"/>
                </a:solidFill>
                <a:latin typeface="Arial"/>
              </a:defRPr>
            </a:pPr>
            <a:r>
              <a:t>Ngoại lệ trước API gate</a:t>
            </a:r>
          </a:p>
        </p:txBody>
      </p:sp>
      <p:sp>
        <p:nvSpPr>
          <p:cNvPr id="7" name="Rounded Rectangle 6"/>
          <p:cNvSpPr/>
          <p:nvPr/>
        </p:nvSpPr>
        <p:spPr>
          <a:xfrm>
            <a:off x="3447288" y="2011680"/>
            <a:ext cx="2697480" cy="3383280"/>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2212848"/>
            <a:ext cx="2377440" cy="502920"/>
          </a:xfrm>
          <a:prstGeom prst="rect">
            <a:avLst/>
          </a:prstGeom>
          <a:noFill/>
        </p:spPr>
        <p:txBody>
          <a:bodyPr wrap="square" lIns="18288" rIns="18288" tIns="18288" bIns="18288">
            <a:spAutoFit/>
          </a:bodyPr>
          <a:lstStyle/>
          <a:p>
            <a:pPr>
              <a:spcAft>
                <a:spcPts val="1400"/>
              </a:spcAft>
              <a:defRPr sz="2200" b="1">
                <a:solidFill>
                  <a:srgbClr val="55D5C6"/>
                </a:solidFill>
                <a:latin typeface="Arial"/>
              </a:defRPr>
            </a:pPr>
            <a:r>
              <a:t>Vision</a:t>
            </a:r>
          </a:p>
        </p:txBody>
      </p:sp>
      <p:sp>
        <p:nvSpPr>
          <p:cNvPr id="9" name="TextBox 8"/>
          <p:cNvSpPr txBox="1"/>
          <p:nvPr/>
        </p:nvSpPr>
        <p:spPr>
          <a:xfrm>
            <a:off x="3611880" y="2852928"/>
            <a:ext cx="2377440" cy="2377440"/>
          </a:xfrm>
          <a:prstGeom prst="rect">
            <a:avLst/>
          </a:prstGeom>
          <a:noFill/>
        </p:spPr>
        <p:txBody>
          <a:bodyPr wrap="square" lIns="18288" rIns="18288" tIns="18288" bIns="18288">
            <a:spAutoFit/>
          </a:bodyPr>
          <a:lstStyle/>
          <a:p>
            <a:pPr>
              <a:spcAft>
                <a:spcPts val="1400"/>
              </a:spcAft>
              <a:defRPr sz="2000" b="0">
                <a:solidFill>
                  <a:srgbClr val="F5F8FC"/>
                </a:solidFill>
                <a:latin typeface="Arial"/>
              </a:defRPr>
            </a:pPr>
            <a:r>
              <a:t>YuNet: phát hiện 5 landmark</a:t>
            </a:r>
          </a:p>
          <a:p>
            <a:pPr>
              <a:spcAft>
                <a:spcPts val="1400"/>
              </a:spcAft>
              <a:defRPr sz="2000" b="0">
                <a:solidFill>
                  <a:srgbClr val="F5F8FC"/>
                </a:solidFill>
                <a:latin typeface="Arial"/>
              </a:defRPr>
            </a:pPr>
            <a:r>
              <a:t>SFace: embedding + cosine</a:t>
            </a:r>
          </a:p>
          <a:p>
            <a:pPr>
              <a:spcAft>
                <a:spcPts val="1400"/>
              </a:spcAft>
              <a:defRPr sz="2000" b="0">
                <a:solidFill>
                  <a:srgbClr val="F5F8FC"/>
                </a:solidFill>
                <a:latin typeface="Arial"/>
              </a:defRPr>
            </a:pPr>
            <a:r>
              <a:t>HSV gợi ý màu áo</a:t>
            </a:r>
          </a:p>
        </p:txBody>
      </p:sp>
      <p:sp>
        <p:nvSpPr>
          <p:cNvPr id="10" name="Rounded Rectangle 9"/>
          <p:cNvSpPr/>
          <p:nvPr/>
        </p:nvSpPr>
        <p:spPr>
          <a:xfrm>
            <a:off x="6300216" y="2011680"/>
            <a:ext cx="2697480" cy="3383280"/>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64808" y="2212848"/>
            <a:ext cx="2377440" cy="502920"/>
          </a:xfrm>
          <a:prstGeom prst="rect">
            <a:avLst/>
          </a:prstGeom>
          <a:noFill/>
        </p:spPr>
        <p:txBody>
          <a:bodyPr wrap="square" lIns="18288" rIns="18288" tIns="18288" bIns="18288">
            <a:spAutoFit/>
          </a:bodyPr>
          <a:lstStyle/>
          <a:p>
            <a:pPr>
              <a:spcAft>
                <a:spcPts val="1400"/>
              </a:spcAft>
              <a:defRPr sz="2200" b="1">
                <a:solidFill>
                  <a:srgbClr val="55D5C6"/>
                </a:solidFill>
                <a:latin typeface="Arial"/>
              </a:defRPr>
            </a:pPr>
            <a:r>
              <a:t>Attendance</a:t>
            </a:r>
          </a:p>
        </p:txBody>
      </p:sp>
      <p:sp>
        <p:nvSpPr>
          <p:cNvPr id="12" name="TextBox 11"/>
          <p:cNvSpPr txBox="1"/>
          <p:nvPr/>
        </p:nvSpPr>
        <p:spPr>
          <a:xfrm>
            <a:off x="6464808" y="2852928"/>
            <a:ext cx="2377440" cy="2377440"/>
          </a:xfrm>
          <a:prstGeom prst="rect">
            <a:avLst/>
          </a:prstGeom>
          <a:noFill/>
        </p:spPr>
        <p:txBody>
          <a:bodyPr wrap="square" lIns="18288" rIns="18288" tIns="18288" bIns="18288">
            <a:spAutoFit/>
          </a:bodyPr>
          <a:lstStyle/>
          <a:p>
            <a:pPr>
              <a:spcAft>
                <a:spcPts val="1400"/>
              </a:spcAft>
              <a:defRPr sz="2000" b="0">
                <a:solidFill>
                  <a:srgbClr val="F5F8FC"/>
                </a:solidFill>
                <a:latin typeface="Arial"/>
              </a:defRPr>
            </a:pPr>
            <a:r>
              <a:t>Staff confirm + version</a:t>
            </a:r>
          </a:p>
          <a:p>
            <a:pPr>
              <a:spcAft>
                <a:spcPts val="1400"/>
              </a:spcAft>
              <a:defRPr sz="2000" b="0">
                <a:solidFill>
                  <a:srgbClr val="F5F8FC"/>
                </a:solidFill>
                <a:latin typeface="Arial"/>
              </a:defRPr>
            </a:pPr>
            <a:r>
              <a:t>Idempotency + ChangeLog</a:t>
            </a:r>
          </a:p>
          <a:p>
            <a:pPr>
              <a:spcAft>
                <a:spcPts val="1400"/>
              </a:spcAft>
              <a:defRPr sz="2000" b="0">
                <a:solidFill>
                  <a:srgbClr val="F5F8FC"/>
                </a:solidFill>
                <a:latin typeface="Arial"/>
              </a:defRPr>
            </a:pPr>
            <a:r>
              <a:t>Manual fallback</a:t>
            </a:r>
          </a:p>
        </p:txBody>
      </p:sp>
      <p:sp>
        <p:nvSpPr>
          <p:cNvPr id="13" name="Rounded Rectangle 12"/>
          <p:cNvSpPr/>
          <p:nvPr/>
        </p:nvSpPr>
        <p:spPr>
          <a:xfrm>
            <a:off x="9153144" y="2011680"/>
            <a:ext cx="2697480" cy="3383280"/>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17736" y="2212848"/>
            <a:ext cx="2377440" cy="502920"/>
          </a:xfrm>
          <a:prstGeom prst="rect">
            <a:avLst/>
          </a:prstGeom>
          <a:noFill/>
        </p:spPr>
        <p:txBody>
          <a:bodyPr wrap="square" lIns="18288" rIns="18288" tIns="18288" bIns="18288">
            <a:spAutoFit/>
          </a:bodyPr>
          <a:lstStyle/>
          <a:p>
            <a:pPr>
              <a:spcAft>
                <a:spcPts val="1400"/>
              </a:spcAft>
              <a:defRPr sz="2200" b="1">
                <a:solidFill>
                  <a:srgbClr val="55D5C6"/>
                </a:solidFill>
                <a:latin typeface="Arial"/>
              </a:defRPr>
            </a:pPr>
            <a:r>
              <a:t>Report / DB</a:t>
            </a:r>
          </a:p>
        </p:txBody>
      </p:sp>
      <p:sp>
        <p:nvSpPr>
          <p:cNvPr id="15" name="TextBox 14"/>
          <p:cNvSpPr txBox="1"/>
          <p:nvPr/>
        </p:nvSpPr>
        <p:spPr>
          <a:xfrm>
            <a:off x="9317736" y="2852928"/>
            <a:ext cx="2377440" cy="2377440"/>
          </a:xfrm>
          <a:prstGeom prst="rect">
            <a:avLst/>
          </a:prstGeom>
          <a:noFill/>
        </p:spPr>
        <p:txBody>
          <a:bodyPr wrap="square" lIns="18288" rIns="18288" tIns="18288" bIns="18288">
            <a:spAutoFit/>
          </a:bodyPr>
          <a:lstStyle/>
          <a:p>
            <a:pPr>
              <a:spcAft>
                <a:spcPts val="1400"/>
              </a:spcAft>
              <a:defRPr sz="2000" b="0">
                <a:solidFill>
                  <a:srgbClr val="F5F8FC"/>
                </a:solidFill>
                <a:latin typeface="Arial"/>
              </a:defRPr>
            </a:pPr>
            <a:r>
              <a:t>JSON, XLSX, CSV</a:t>
            </a:r>
          </a:p>
          <a:p>
            <a:pPr>
              <a:spcAft>
                <a:spcPts val="1400"/>
              </a:spcAft>
              <a:defRPr sz="2000" b="0">
                <a:solidFill>
                  <a:srgbClr val="F5F8FC"/>
                </a:solidFill>
                <a:latin typeface="Arial"/>
              </a:defRPr>
            </a:pPr>
            <a:r>
              <a:t>Crop112×112 + embedding private</a:t>
            </a:r>
          </a:p>
          <a:p>
            <a:pPr>
              <a:spcAft>
                <a:spcPts val="1400"/>
              </a:spcAft>
              <a:defRPr sz="2000" b="0">
                <a:solidFill>
                  <a:srgbClr val="F5F8FC"/>
                </a:solidFill>
                <a:latin typeface="Arial"/>
              </a:defRPr>
            </a:pPr>
            <a:r>
              <a:t>Không lưu frame/video</a:t>
            </a:r>
          </a:p>
        </p:txBody>
      </p:sp>
      <p:sp>
        <p:nvSpPr>
          <p:cNvPr id="16" name="TextBox 15"/>
          <p:cNvSpPr txBox="1"/>
          <p:nvPr/>
        </p:nvSpPr>
        <p:spPr>
          <a:xfrm>
            <a:off x="594360" y="6382512"/>
            <a:ext cx="10515600" cy="228600"/>
          </a:xfrm>
          <a:prstGeom prst="rect">
            <a:avLst/>
          </a:prstGeom>
          <a:noFill/>
        </p:spPr>
        <p:txBody>
          <a:bodyPr wrap="square" lIns="18288" rIns="18288" tIns="18288" bIns="18288">
            <a:spAutoFit/>
          </a:bodyPr>
          <a:lstStyle/>
          <a:p>
            <a:pPr>
              <a:spcAft>
                <a:spcPts val="1400"/>
              </a:spcAft>
              <a:defRPr sz="1100" b="0">
                <a:solidFill>
                  <a:srgbClr val="B6C8DB"/>
                </a:solidFill>
                <a:latin typeface="Arial"/>
              </a:defRPr>
            </a:pPr>
            <a:r>
              <a:t>OpenCV MVP v1.4 | UI local | Nhân sự xác nhận bắt buộc</a:t>
            </a:r>
          </a:p>
        </p:txBody>
      </p:sp>
      <p:sp>
        <p:nvSpPr>
          <p:cNvPr id="17" name="TextBox 16"/>
          <p:cNvSpPr txBox="1"/>
          <p:nvPr/>
        </p:nvSpPr>
        <p:spPr>
          <a:xfrm>
            <a:off x="11018520" y="6364224"/>
            <a:ext cx="594360" cy="274320"/>
          </a:xfrm>
          <a:prstGeom prst="rect">
            <a:avLst/>
          </a:prstGeom>
          <a:noFill/>
        </p:spPr>
        <p:txBody>
          <a:bodyPr wrap="square" lIns="18288" rIns="18288" tIns="18288" bIns="18288">
            <a:spAutoFit/>
          </a:bodyPr>
          <a:lstStyle/>
          <a:p>
            <a:pPr>
              <a:spcAft>
                <a:spcPts val="1400"/>
              </a:spcAft>
              <a:defRPr sz="1200" b="0">
                <a:solidFill>
                  <a:srgbClr val="FFD18A"/>
                </a:solidFill>
                <a:latin typeface="Arial"/>
              </a:defRPr>
            </a:pPr>
            <a:r>
              <a:t>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2338"/>
        </a:solidFill>
        <a:effectLst/>
      </p:bgPr>
    </p:bg>
    <p:spTree>
      <p:nvGrpSpPr>
        <p:cNvPr id="1" name=""/>
        <p:cNvGrpSpPr/>
        <p:nvPr/>
      </p:nvGrpSpPr>
      <p:grpSpPr/>
      <p:sp>
        <p:nvSpPr>
          <p:cNvPr id="2" name="TextBox 1"/>
          <p:cNvSpPr txBox="1"/>
          <p:nvPr/>
        </p:nvSpPr>
        <p:spPr>
          <a:xfrm>
            <a:off x="594360" y="438912"/>
            <a:ext cx="10972800" cy="640080"/>
          </a:xfrm>
          <a:prstGeom prst="rect">
            <a:avLst/>
          </a:prstGeom>
          <a:noFill/>
        </p:spPr>
        <p:txBody>
          <a:bodyPr wrap="square" lIns="18288" rIns="18288" tIns="18288" bIns="18288">
            <a:spAutoFit/>
          </a:bodyPr>
          <a:lstStyle/>
          <a:p>
            <a:pPr>
              <a:spcAft>
                <a:spcPts val="1400"/>
              </a:spcAft>
              <a:defRPr sz="3300" b="1">
                <a:solidFill>
                  <a:srgbClr val="F5F8FC"/>
                </a:solidFill>
                <a:latin typeface="Arial"/>
              </a:defRPr>
            </a:pPr>
            <a:r>
              <a:t>Demo trực tiếp bằng UI local</a:t>
            </a:r>
          </a:p>
        </p:txBody>
      </p:sp>
      <p:sp>
        <p:nvSpPr>
          <p:cNvPr id="3" name="TextBox 2"/>
          <p:cNvSpPr txBox="1"/>
          <p:nvPr/>
        </p:nvSpPr>
        <p:spPr>
          <a:xfrm>
            <a:off x="594360" y="1143000"/>
            <a:ext cx="10972800" cy="594360"/>
          </a:xfrm>
          <a:prstGeom prst="rect">
            <a:avLst/>
          </a:prstGeom>
          <a:noFill/>
        </p:spPr>
        <p:txBody>
          <a:bodyPr wrap="square" lIns="18288" rIns="18288" tIns="18288" bIns="18288">
            <a:spAutoFit/>
          </a:bodyPr>
          <a:lstStyle/>
          <a:p>
            <a:pPr>
              <a:spcAft>
                <a:spcPts val="1400"/>
              </a:spcAft>
              <a:defRPr sz="1900" b="0">
                <a:solidFill>
                  <a:srgbClr val="55D5C6"/>
                </a:solidFill>
                <a:latin typeface="Arial"/>
              </a:defRPr>
            </a:pPr>
            <a:r>
              <a:t>Thực hiện trên DB thử riêng và ảnh được phép sử dụng</a:t>
            </a:r>
          </a:p>
        </p:txBody>
      </p:sp>
      <p:sp>
        <p:nvSpPr>
          <p:cNvPr id="4" name="Rounded Rectangle 3"/>
          <p:cNvSpPr/>
          <p:nvPr/>
        </p:nvSpPr>
        <p:spPr>
          <a:xfrm>
            <a:off x="594360"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Chuẩn bị / phân tích</a:t>
            </a:r>
          </a:p>
        </p:txBody>
      </p:sp>
      <p:sp>
        <p:nvSpPr>
          <p:cNvPr id="6" name="TextBox 5"/>
          <p:cNvSpPr txBox="1"/>
          <p:nvPr/>
        </p:nvSpPr>
        <p:spPr>
          <a:xfrm>
            <a:off x="822960"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1. Đăng nhập staff; chọn lớp và tạo/mở buổi đúng quyền.</a:t>
            </a:r>
          </a:p>
          <a:p>
            <a:pPr>
              <a:spcAft>
                <a:spcPts val="1400"/>
              </a:spcAft>
              <a:defRPr sz="2100" b="0">
                <a:solidFill>
                  <a:srgbClr val="F5F8FC"/>
                </a:solidFill>
                <a:latin typeface="Arial"/>
              </a:defRPr>
            </a:pPr>
            <a:r>
              <a:t>• 2. Mục Học sinh: đăng ký 3–10 ảnh mẫu riêng.</a:t>
            </a:r>
          </a:p>
          <a:p>
            <a:pPr>
              <a:spcAft>
                <a:spcPts val="1400"/>
              </a:spcAft>
              <a:defRPr sz="2100" b="0">
                <a:solidFill>
                  <a:srgbClr val="F5F8FC"/>
                </a:solidFill>
                <a:latin typeface="Arial"/>
              </a:defRPr>
            </a:pPr>
            <a:r>
              <a:t>• 3. Camera/upload → phân tích: PENDING, chưa ghi có mặt.</a:t>
            </a:r>
          </a:p>
        </p:txBody>
      </p:sp>
      <p:sp>
        <p:nvSpPr>
          <p:cNvPr id="7" name="Rounded Rectangle 6"/>
          <p:cNvSpPr/>
          <p:nvPr/>
        </p:nvSpPr>
        <p:spPr>
          <a:xfrm>
            <a:off x="6236208"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4808"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Xác nhận / đối soát</a:t>
            </a:r>
          </a:p>
        </p:txBody>
      </p:sp>
      <p:sp>
        <p:nvSpPr>
          <p:cNvPr id="9" name="TextBox 8"/>
          <p:cNvSpPr txBox="1"/>
          <p:nvPr/>
        </p:nvSpPr>
        <p:spPr>
          <a:xfrm>
            <a:off x="6464808"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4. Nhìn người thật rồi xác nhận danh tính; kiểm tra áo.</a:t>
            </a:r>
          </a:p>
          <a:p>
            <a:pPr>
              <a:spcAft>
                <a:spcPts val="1400"/>
              </a:spcAft>
              <a:defRPr sz="2100" b="0">
                <a:solidFill>
                  <a:srgbClr val="F5F8FC"/>
                </a:solidFill>
                <a:latin typeface="Arial"/>
              </a:defRPr>
            </a:pPr>
            <a:r>
              <a:t>• 5. Thử reject/manual; kiểm tra kết quả và source VISION.</a:t>
            </a:r>
          </a:p>
          <a:p>
            <a:pPr>
              <a:spcAft>
                <a:spcPts val="1400"/>
              </a:spcAft>
              <a:defRPr sz="2100" b="0">
                <a:solidFill>
                  <a:srgbClr val="F5F8FC"/>
                </a:solidFill>
                <a:latin typeface="Arial"/>
              </a:defRPr>
            </a:pPr>
            <a:r>
              <a:t>• 6. Chốt buổi; mở báo cáo, tải XLSX/CSV cùng bộ lọc.</a:t>
            </a:r>
          </a:p>
        </p:txBody>
      </p:sp>
      <p:sp>
        <p:nvSpPr>
          <p:cNvPr id="10" name="TextBox 9"/>
          <p:cNvSpPr txBox="1"/>
          <p:nvPr/>
        </p:nvSpPr>
        <p:spPr>
          <a:xfrm>
            <a:off x="594360" y="6382512"/>
            <a:ext cx="10515600" cy="228600"/>
          </a:xfrm>
          <a:prstGeom prst="rect">
            <a:avLst/>
          </a:prstGeom>
          <a:noFill/>
        </p:spPr>
        <p:txBody>
          <a:bodyPr wrap="square" lIns="18288" rIns="18288" tIns="18288" bIns="18288">
            <a:spAutoFit/>
          </a:bodyPr>
          <a:lstStyle/>
          <a:p>
            <a:pPr>
              <a:spcAft>
                <a:spcPts val="1400"/>
              </a:spcAft>
              <a:defRPr sz="1100" b="0">
                <a:solidFill>
                  <a:srgbClr val="B6C8DB"/>
                </a:solidFill>
                <a:latin typeface="Arial"/>
              </a:defRPr>
            </a:pPr>
            <a:r>
              <a:t>OpenCV MVP v1.4 | UI local | Nhân sự xác nhận bắt buộc</a:t>
            </a:r>
          </a:p>
        </p:txBody>
      </p:sp>
      <p:sp>
        <p:nvSpPr>
          <p:cNvPr id="11" name="TextBox 10"/>
          <p:cNvSpPr txBox="1"/>
          <p:nvPr/>
        </p:nvSpPr>
        <p:spPr>
          <a:xfrm>
            <a:off x="11018520" y="6364224"/>
            <a:ext cx="594360" cy="274320"/>
          </a:xfrm>
          <a:prstGeom prst="rect">
            <a:avLst/>
          </a:prstGeom>
          <a:noFill/>
        </p:spPr>
        <p:txBody>
          <a:bodyPr wrap="square" lIns="18288" rIns="18288" tIns="18288" bIns="18288">
            <a:spAutoFit/>
          </a:bodyPr>
          <a:lstStyle/>
          <a:p>
            <a:pPr>
              <a:spcAft>
                <a:spcPts val="1400"/>
              </a:spcAft>
              <a:defRPr sz="1200" b="0">
                <a:solidFill>
                  <a:srgbClr val="FFD18A"/>
                </a:solidFill>
                <a:latin typeface="Arial"/>
              </a:defRPr>
            </a:pPr>
            <a:r>
              <a:t>4/7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2338"/>
        </a:solidFill>
        <a:effectLst/>
      </p:bgPr>
    </p:bg>
    <p:spTree>
      <p:nvGrpSpPr>
        <p:cNvPr id="1" name=""/>
        <p:cNvGrpSpPr/>
        <p:nvPr/>
      </p:nvGrpSpPr>
      <p:grpSpPr/>
      <p:sp>
        <p:nvSpPr>
          <p:cNvPr id="2" name="TextBox 1"/>
          <p:cNvSpPr txBox="1"/>
          <p:nvPr/>
        </p:nvSpPr>
        <p:spPr>
          <a:xfrm>
            <a:off x="594360" y="438912"/>
            <a:ext cx="10972800" cy="640080"/>
          </a:xfrm>
          <a:prstGeom prst="rect">
            <a:avLst/>
          </a:prstGeom>
          <a:noFill/>
        </p:spPr>
        <p:txBody>
          <a:bodyPr wrap="square" lIns="18288" rIns="18288" tIns="18288" bIns="18288">
            <a:spAutoFit/>
          </a:bodyPr>
          <a:lstStyle/>
          <a:p>
            <a:pPr>
              <a:spcAft>
                <a:spcPts val="1400"/>
              </a:spcAft>
              <a:defRPr sz="3300" b="1">
                <a:solidFill>
                  <a:srgbClr val="F5F8FC"/>
                </a:solidFill>
                <a:latin typeface="Arial"/>
              </a:defRPr>
            </a:pPr>
            <a:r>
              <a:t>Tình huống lỗi và đường thủ công</a:t>
            </a:r>
          </a:p>
        </p:txBody>
      </p:sp>
      <p:sp>
        <p:nvSpPr>
          <p:cNvPr id="3" name="TextBox 2"/>
          <p:cNvSpPr txBox="1"/>
          <p:nvPr/>
        </p:nvSpPr>
        <p:spPr>
          <a:xfrm>
            <a:off x="594360" y="1143000"/>
            <a:ext cx="10972800" cy="594360"/>
          </a:xfrm>
          <a:prstGeom prst="rect">
            <a:avLst/>
          </a:prstGeom>
          <a:noFill/>
        </p:spPr>
        <p:txBody>
          <a:bodyPr wrap="square" lIns="18288" rIns="18288" tIns="18288" bIns="18288">
            <a:spAutoFit/>
          </a:bodyPr>
          <a:lstStyle/>
          <a:p>
            <a:pPr>
              <a:spcAft>
                <a:spcPts val="1400"/>
              </a:spcAft>
              <a:defRPr sz="1900" b="0">
                <a:solidFill>
                  <a:srgbClr val="55D5C6"/>
                </a:solidFill>
                <a:latin typeface="Arial"/>
              </a:defRPr>
            </a:pPr>
            <a:r>
              <a:t>Không biến kết quả chưa chắc chắn thành có mặt hoặc vi phạm</a:t>
            </a:r>
          </a:p>
        </p:txBody>
      </p:sp>
      <p:sp>
        <p:nvSpPr>
          <p:cNvPr id="4" name="Rounded Rectangle 3"/>
          <p:cNvSpPr/>
          <p:nvPr/>
        </p:nvSpPr>
        <p:spPr>
          <a:xfrm>
            <a:off x="594360"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Ảnh / đồng phục</a:t>
            </a:r>
          </a:p>
        </p:txBody>
      </p:sp>
      <p:sp>
        <p:nvSpPr>
          <p:cNvPr id="6" name="TextBox 5"/>
          <p:cNvSpPr txBox="1"/>
          <p:nvPr/>
        </p:nvSpPr>
        <p:spPr>
          <a:xfrm>
            <a:off x="822960"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Mặt lạ, mờ, nhiều mặt hoặc ứng viên sát nhau: chụp lại/manual.</a:t>
            </a:r>
          </a:p>
          <a:p>
            <a:pPr>
              <a:spcAft>
                <a:spcPts val="1400"/>
              </a:spcAft>
              <a:defRPr sz="2100" b="0">
                <a:solidFill>
                  <a:srgbClr val="F5F8FC"/>
                </a:solidFill>
                <a:latin typeface="Arial"/>
              </a:defRPr>
            </a:pPr>
            <a:r>
              <a:t>• Áo bị che, thiếu vùng thân, màu không trội: UNKNOWN.</a:t>
            </a:r>
          </a:p>
          <a:p>
            <a:pPr>
              <a:spcAft>
                <a:spcPts val="1400"/>
              </a:spcAft>
              <a:defRPr sz="2100" b="0">
                <a:solidFill>
                  <a:srgbClr val="F5F8FC"/>
                </a:solidFill>
                <a:latin typeface="Arial"/>
              </a:defRPr>
            </a:pPr>
            <a:r>
              <a:t>• HSV không nhận biết logo, chất liệu hay đồng phục đầy đủ.</a:t>
            </a:r>
          </a:p>
        </p:txBody>
      </p:sp>
      <p:sp>
        <p:nvSpPr>
          <p:cNvPr id="7" name="Rounded Rectangle 6"/>
          <p:cNvSpPr/>
          <p:nvPr/>
        </p:nvSpPr>
        <p:spPr>
          <a:xfrm>
            <a:off x="6236208"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4808"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Trạng thái / quyền</a:t>
            </a:r>
          </a:p>
        </p:txBody>
      </p:sp>
      <p:sp>
        <p:nvSpPr>
          <p:cNvPr id="9" name="TextBox 8"/>
          <p:cNvSpPr txBox="1"/>
          <p:nvPr/>
        </p:nvSpPr>
        <p:spPr>
          <a:xfrm>
            <a:off x="6464808"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Scan hết hạn, mẫu/version đổi, buổi đóng: không confirm mới.</a:t>
            </a:r>
          </a:p>
          <a:p>
            <a:pPr>
              <a:spcAft>
                <a:spcPts val="1400"/>
              </a:spcAft>
              <a:defRPr sz="2100" b="0">
                <a:solidFill>
                  <a:srgbClr val="F5F8FC"/>
                </a:solidFill>
                <a:latin typeface="Arial"/>
              </a:defRPr>
            </a:pPr>
            <a:r>
              <a:t>• GVCN khác lớp và học sinh bị chặn các API vision.</a:t>
            </a:r>
          </a:p>
          <a:p>
            <a:pPr>
              <a:spcAft>
                <a:spcPts val="1400"/>
              </a:spcAft>
              <a:defRPr sz="2100" b="0">
                <a:solidFill>
                  <a:srgbClr val="F5F8FC"/>
                </a:solidFill>
                <a:latin typeface="Arial"/>
              </a:defRPr>
            </a:pPr>
            <a:r>
              <a:t>• Mất camera/mạng: kiểm tra retry và chuyển manual.</a:t>
            </a:r>
          </a:p>
        </p:txBody>
      </p:sp>
      <p:sp>
        <p:nvSpPr>
          <p:cNvPr id="10" name="TextBox 9"/>
          <p:cNvSpPr txBox="1"/>
          <p:nvPr/>
        </p:nvSpPr>
        <p:spPr>
          <a:xfrm>
            <a:off x="594360" y="6382512"/>
            <a:ext cx="10515600" cy="228600"/>
          </a:xfrm>
          <a:prstGeom prst="rect">
            <a:avLst/>
          </a:prstGeom>
          <a:noFill/>
        </p:spPr>
        <p:txBody>
          <a:bodyPr wrap="square" lIns="18288" rIns="18288" tIns="18288" bIns="18288">
            <a:spAutoFit/>
          </a:bodyPr>
          <a:lstStyle/>
          <a:p>
            <a:pPr>
              <a:spcAft>
                <a:spcPts val="1400"/>
              </a:spcAft>
              <a:defRPr sz="1100" b="0">
                <a:solidFill>
                  <a:srgbClr val="B6C8DB"/>
                </a:solidFill>
                <a:latin typeface="Arial"/>
              </a:defRPr>
            </a:pPr>
            <a:r>
              <a:t>OpenCV MVP v1.4 | UI local | Nhân sự xác nhận bắt buộc</a:t>
            </a:r>
          </a:p>
        </p:txBody>
      </p:sp>
      <p:sp>
        <p:nvSpPr>
          <p:cNvPr id="11" name="TextBox 10"/>
          <p:cNvSpPr txBox="1"/>
          <p:nvPr/>
        </p:nvSpPr>
        <p:spPr>
          <a:xfrm>
            <a:off x="11018520" y="6364224"/>
            <a:ext cx="594360" cy="274320"/>
          </a:xfrm>
          <a:prstGeom prst="rect">
            <a:avLst/>
          </a:prstGeom>
          <a:noFill/>
        </p:spPr>
        <p:txBody>
          <a:bodyPr wrap="square" lIns="18288" rIns="18288" tIns="18288" bIns="18288">
            <a:spAutoFit/>
          </a:bodyPr>
          <a:lstStyle/>
          <a:p>
            <a:pPr>
              <a:spcAft>
                <a:spcPts val="1400"/>
              </a:spcAft>
              <a:defRPr sz="1200" b="0">
                <a:solidFill>
                  <a:srgbClr val="FFD18A"/>
                </a:solidFill>
                <a:latin typeface="Arial"/>
              </a:defRPr>
            </a:pPr>
            <a:r>
              <a:t>5/7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2338"/>
        </a:solidFill>
        <a:effectLst/>
      </p:bgPr>
    </p:bg>
    <p:spTree>
      <p:nvGrpSpPr>
        <p:cNvPr id="1" name=""/>
        <p:cNvGrpSpPr/>
        <p:nvPr/>
      </p:nvGrpSpPr>
      <p:grpSpPr/>
      <p:sp>
        <p:nvSpPr>
          <p:cNvPr id="2" name="TextBox 1"/>
          <p:cNvSpPr txBox="1"/>
          <p:nvPr/>
        </p:nvSpPr>
        <p:spPr>
          <a:xfrm>
            <a:off x="594360" y="438912"/>
            <a:ext cx="10972800" cy="640080"/>
          </a:xfrm>
          <a:prstGeom prst="rect">
            <a:avLst/>
          </a:prstGeom>
          <a:noFill/>
        </p:spPr>
        <p:txBody>
          <a:bodyPr wrap="square" lIns="18288" rIns="18288" tIns="18288" bIns="18288">
            <a:spAutoFit/>
          </a:bodyPr>
          <a:lstStyle/>
          <a:p>
            <a:pPr>
              <a:spcAft>
                <a:spcPts val="1400"/>
              </a:spcAft>
              <a:defRPr sz="3300" b="1">
                <a:solidFill>
                  <a:srgbClr val="F5F8FC"/>
                </a:solidFill>
                <a:latin typeface="Arial"/>
              </a:defRPr>
            </a:pPr>
            <a:r>
              <a:t>Kiểm chứng và bằng chứng</a:t>
            </a:r>
          </a:p>
        </p:txBody>
      </p:sp>
      <p:sp>
        <p:nvSpPr>
          <p:cNvPr id="3" name="TextBox 2"/>
          <p:cNvSpPr txBox="1"/>
          <p:nvPr/>
        </p:nvSpPr>
        <p:spPr>
          <a:xfrm>
            <a:off x="594360" y="1143000"/>
            <a:ext cx="10972800" cy="594360"/>
          </a:xfrm>
          <a:prstGeom prst="rect">
            <a:avLst/>
          </a:prstGeom>
          <a:noFill/>
        </p:spPr>
        <p:txBody>
          <a:bodyPr wrap="square" lIns="18288" rIns="18288" tIns="18288" bIns="18288">
            <a:spAutoFit/>
          </a:bodyPr>
          <a:lstStyle/>
          <a:p>
            <a:pPr>
              <a:spcAft>
                <a:spcPts val="1400"/>
              </a:spcAft>
              <a:defRPr sz="1900" b="0">
                <a:solidFill>
                  <a:srgbClr val="55D5C6"/>
                </a:solidFill>
                <a:latin typeface="Arial"/>
              </a:defRPr>
            </a:pPr>
            <a:r>
              <a:t>Chỉ trình bày kết quả từ log kiểm chứng hiện tại</a:t>
            </a:r>
          </a:p>
        </p:txBody>
      </p:sp>
      <p:sp>
        <p:nvSpPr>
          <p:cNvPr id="4" name="Rounded Rectangle 3"/>
          <p:cNvSpPr/>
          <p:nvPr/>
        </p:nvSpPr>
        <p:spPr>
          <a:xfrm>
            <a:off x="594360"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Backend / dữ liệu</a:t>
            </a:r>
          </a:p>
        </p:txBody>
      </p:sp>
      <p:sp>
        <p:nvSpPr>
          <p:cNvPr id="6" name="TextBox 5"/>
          <p:cNvSpPr txBox="1"/>
          <p:nvPr/>
        </p:nvSpPr>
        <p:spPr>
          <a:xfrm>
            <a:off x="822960"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Test scope, ảnh, matching, expiry, version, retry và rollback.</a:t>
            </a:r>
          </a:p>
          <a:p>
            <a:pPr>
              <a:spcAft>
                <a:spcPts val="1400"/>
              </a:spcAft>
              <a:defRPr sz="2100" b="0">
                <a:solidFill>
                  <a:srgbClr val="F5F8FC"/>
                </a:solidFill>
                <a:latin typeface="Arial"/>
              </a:defRPr>
            </a:pPr>
            <a:r>
              <a:t>• Migrate DB mới/nâng cấp; check, migration drift và pip check.</a:t>
            </a:r>
          </a:p>
          <a:p>
            <a:pPr>
              <a:spcAft>
                <a:spcPts val="1400"/>
              </a:spcAft>
              <a:defRPr sz="2100" b="0">
                <a:solidFill>
                  <a:srgbClr val="F5F8FC"/>
                </a:solidFill>
                <a:latin typeface="Arial"/>
              </a:defRPr>
            </a:pPr>
            <a:r>
              <a:t>• Mở lại XLSX/CSV, so chi tiết và tổng với API.</a:t>
            </a:r>
          </a:p>
        </p:txBody>
      </p:sp>
      <p:sp>
        <p:nvSpPr>
          <p:cNvPr id="7" name="Rounded Rectangle 6"/>
          <p:cNvSpPr/>
          <p:nvPr/>
        </p:nvSpPr>
        <p:spPr>
          <a:xfrm>
            <a:off x="6236208"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4808"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Thiết bị / review</a:t>
            </a:r>
          </a:p>
        </p:txBody>
      </p:sp>
      <p:sp>
        <p:nvSpPr>
          <p:cNvPr id="9" name="TextBox 8"/>
          <p:cNvSpPr txBox="1"/>
          <p:nvPr/>
        </p:nvSpPr>
        <p:spPr>
          <a:xfrm>
            <a:off x="6464808"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Fixture synthetic hoặc mock detector không chứng minh camera thật.</a:t>
            </a:r>
          </a:p>
          <a:p>
            <a:pPr>
              <a:spcAft>
                <a:spcPts val="1400"/>
              </a:spcAft>
              <a:defRPr sz="2100" b="0">
                <a:solidFill>
                  <a:srgbClr val="F5F8FC"/>
                </a:solidFill>
                <a:latin typeface="Arial"/>
              </a:defRPr>
            </a:pPr>
            <a:r>
              <a:t>• Thử ánh sáng, góc mặt, người lạ, áo bị che trên thiết bị thật.</a:t>
            </a:r>
          </a:p>
          <a:p>
            <a:pPr>
              <a:spcAft>
                <a:spcPts val="1400"/>
              </a:spcAft>
              <a:defRPr sz="2100" b="0">
                <a:solidFill>
                  <a:srgbClr val="F5F8FC"/>
                </a:solidFill>
                <a:latin typeface="Arial"/>
              </a:defRPr>
            </a:pPr>
            <a:r>
              <a:t>• Implementation + validation + review trước khi tick Finish?.</a:t>
            </a:r>
          </a:p>
        </p:txBody>
      </p:sp>
      <p:sp>
        <p:nvSpPr>
          <p:cNvPr id="10" name="TextBox 9"/>
          <p:cNvSpPr txBox="1"/>
          <p:nvPr/>
        </p:nvSpPr>
        <p:spPr>
          <a:xfrm>
            <a:off x="594360" y="6382512"/>
            <a:ext cx="10515600" cy="228600"/>
          </a:xfrm>
          <a:prstGeom prst="rect">
            <a:avLst/>
          </a:prstGeom>
          <a:noFill/>
        </p:spPr>
        <p:txBody>
          <a:bodyPr wrap="square" lIns="18288" rIns="18288" tIns="18288" bIns="18288">
            <a:spAutoFit/>
          </a:bodyPr>
          <a:lstStyle/>
          <a:p>
            <a:pPr>
              <a:spcAft>
                <a:spcPts val="1400"/>
              </a:spcAft>
              <a:defRPr sz="1100" b="0">
                <a:solidFill>
                  <a:srgbClr val="B6C8DB"/>
                </a:solidFill>
                <a:latin typeface="Arial"/>
              </a:defRPr>
            </a:pPr>
            <a:r>
              <a:t>OpenCV MVP v1.4 | UI local | Nhân sự xác nhận bắt buộc</a:t>
            </a:r>
          </a:p>
        </p:txBody>
      </p:sp>
      <p:sp>
        <p:nvSpPr>
          <p:cNvPr id="11" name="TextBox 10"/>
          <p:cNvSpPr txBox="1"/>
          <p:nvPr/>
        </p:nvSpPr>
        <p:spPr>
          <a:xfrm>
            <a:off x="11018520" y="6364224"/>
            <a:ext cx="594360" cy="274320"/>
          </a:xfrm>
          <a:prstGeom prst="rect">
            <a:avLst/>
          </a:prstGeom>
          <a:noFill/>
        </p:spPr>
        <p:txBody>
          <a:bodyPr wrap="square" lIns="18288" rIns="18288" tIns="18288" bIns="18288">
            <a:spAutoFit/>
          </a:bodyPr>
          <a:lstStyle/>
          <a:p>
            <a:pPr>
              <a:spcAft>
                <a:spcPts val="1400"/>
              </a:spcAft>
              <a:defRPr sz="1200" b="0">
                <a:solidFill>
                  <a:srgbClr val="FFD18A"/>
                </a:solidFill>
                <a:latin typeface="Arial"/>
              </a:defRPr>
            </a:pPr>
            <a:r>
              <a:t>6/7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2338"/>
        </a:solidFill>
        <a:effectLst/>
      </p:bgPr>
    </p:bg>
    <p:spTree>
      <p:nvGrpSpPr>
        <p:cNvPr id="1" name=""/>
        <p:cNvGrpSpPr/>
        <p:nvPr/>
      </p:nvGrpSpPr>
      <p:grpSpPr/>
      <p:sp>
        <p:nvSpPr>
          <p:cNvPr id="2" name="TextBox 1"/>
          <p:cNvSpPr txBox="1"/>
          <p:nvPr/>
        </p:nvSpPr>
        <p:spPr>
          <a:xfrm>
            <a:off x="594360" y="438912"/>
            <a:ext cx="10972800" cy="640080"/>
          </a:xfrm>
          <a:prstGeom prst="rect">
            <a:avLst/>
          </a:prstGeom>
          <a:noFill/>
        </p:spPr>
        <p:txBody>
          <a:bodyPr wrap="square" lIns="18288" rIns="18288" tIns="18288" bIns="18288">
            <a:spAutoFit/>
          </a:bodyPr>
          <a:lstStyle/>
          <a:p>
            <a:pPr>
              <a:spcAft>
                <a:spcPts val="1400"/>
              </a:spcAft>
              <a:defRPr sz="3300" b="1">
                <a:solidFill>
                  <a:srgbClr val="F5F8FC"/>
                </a:solidFill>
                <a:latin typeface="Arial"/>
              </a:defRPr>
            </a:pPr>
            <a:r>
              <a:t>Giới hạn và bước tiếp theo</a:t>
            </a:r>
          </a:p>
        </p:txBody>
      </p:sp>
      <p:sp>
        <p:nvSpPr>
          <p:cNvPr id="3" name="TextBox 2"/>
          <p:cNvSpPr txBox="1"/>
          <p:nvPr/>
        </p:nvSpPr>
        <p:spPr>
          <a:xfrm>
            <a:off x="594360" y="1143000"/>
            <a:ext cx="10972800" cy="594360"/>
          </a:xfrm>
          <a:prstGeom prst="rect">
            <a:avLst/>
          </a:prstGeom>
          <a:noFill/>
        </p:spPr>
        <p:txBody>
          <a:bodyPr wrap="square" lIns="18288" rIns="18288" tIns="18288" bIns="18288">
            <a:spAutoFit/>
          </a:bodyPr>
          <a:lstStyle/>
          <a:p>
            <a:pPr>
              <a:spcAft>
                <a:spcPts val="1400"/>
              </a:spcAft>
              <a:defRPr sz="1900" b="0">
                <a:solidFill>
                  <a:srgbClr val="55D5C6"/>
                </a:solidFill>
                <a:latin typeface="Arial"/>
              </a:defRPr>
            </a:pPr>
            <a:r>
              <a:t>API_Gate = NOT_APPROVED • UI local là ngoại lệ do người dùng yêu cầu</a:t>
            </a:r>
          </a:p>
        </p:txBody>
      </p:sp>
      <p:sp>
        <p:nvSpPr>
          <p:cNvPr id="4" name="Rounded Rectangle 3"/>
          <p:cNvSpPr/>
          <p:nvPr/>
        </p:nvSpPr>
        <p:spPr>
          <a:xfrm>
            <a:off x="594360"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Giới hạn demo</a:t>
            </a:r>
          </a:p>
        </p:txBody>
      </p:sp>
      <p:sp>
        <p:nvSpPr>
          <p:cNvPr id="6" name="TextBox 5"/>
          <p:cNvSpPr txBox="1"/>
          <p:nvPr/>
        </p:nvSpPr>
        <p:spPr>
          <a:xfrm>
            <a:off x="822960"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Chưa có số liệu độ chính xác camera thật; không bảo đảm liveness.</a:t>
            </a:r>
          </a:p>
          <a:p>
            <a:pPr>
              <a:spcAft>
                <a:spcPts val="1400"/>
              </a:spcAft>
              <a:defRPr sz="2100" b="0">
                <a:solidFill>
                  <a:srgbClr val="F5F8FC"/>
                </a:solidFill>
                <a:latin typeface="Arial"/>
              </a:defRPr>
            </a:pPr>
            <a:r>
              <a:t>• HSV là heuristic màu; SQLite và cache dùng cho demo nhỏ.</a:t>
            </a:r>
          </a:p>
          <a:p>
            <a:pPr>
              <a:spcAft>
                <a:spcPts val="1400"/>
              </a:spcAft>
              <a:defRPr sz="2100" b="0">
                <a:solidFill>
                  <a:srgbClr val="F5F8FC"/>
                </a:solidFill>
                <a:latin typeface="Arial"/>
              </a:defRPr>
            </a:pPr>
            <a:r>
              <a:t>• Quota 20 phân tích/phút/actor: phút cố định, cache từng process.</a:t>
            </a:r>
          </a:p>
        </p:txBody>
      </p:sp>
      <p:sp>
        <p:nvSpPr>
          <p:cNvPr id="7" name="Rounded Rectangle 6"/>
          <p:cNvSpPr/>
          <p:nvPr/>
        </p:nvSpPr>
        <p:spPr>
          <a:xfrm>
            <a:off x="6236208" y="1938528"/>
            <a:ext cx="5477256" cy="3995928"/>
          </a:xfrm>
          <a:prstGeom prst="roundRect">
            <a:avLst/>
          </a:prstGeom>
          <a:solidFill>
            <a:srgbClr val="1C3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4808" y="2148840"/>
            <a:ext cx="4983480" cy="502920"/>
          </a:xfrm>
          <a:prstGeom prst="rect">
            <a:avLst/>
          </a:prstGeom>
          <a:noFill/>
        </p:spPr>
        <p:txBody>
          <a:bodyPr wrap="square" lIns="18288" rIns="18288" tIns="18288" bIns="18288">
            <a:spAutoFit/>
          </a:bodyPr>
          <a:lstStyle/>
          <a:p>
            <a:pPr>
              <a:spcAft>
                <a:spcPts val="1400"/>
              </a:spcAft>
              <a:defRPr sz="2400" b="1">
                <a:solidFill>
                  <a:srgbClr val="55D5C6"/>
                </a:solidFill>
                <a:latin typeface="Arial"/>
              </a:defRPr>
            </a:pPr>
            <a:r>
              <a:t>Bàn giao</a:t>
            </a:r>
          </a:p>
        </p:txBody>
      </p:sp>
      <p:sp>
        <p:nvSpPr>
          <p:cNvPr id="9" name="TextBox 8"/>
          <p:cNvSpPr txBox="1"/>
          <p:nvPr/>
        </p:nvSpPr>
        <p:spPr>
          <a:xfrm>
            <a:off x="6464808" y="2852928"/>
            <a:ext cx="4965192" cy="2816352"/>
          </a:xfrm>
          <a:prstGeom prst="rect">
            <a:avLst/>
          </a:prstGeom>
          <a:noFill/>
        </p:spPr>
        <p:txBody>
          <a:bodyPr wrap="square" lIns="18288" rIns="18288" tIns="18288" bIns="18288">
            <a:spAutoFit/>
          </a:bodyPr>
          <a:lstStyle/>
          <a:p>
            <a:pPr>
              <a:spcAft>
                <a:spcPts val="1400"/>
              </a:spcAft>
              <a:defRPr sz="2100" b="0">
                <a:solidFill>
                  <a:srgbClr val="F5F8FC"/>
                </a:solidFill>
                <a:latin typeface="Arial"/>
              </a:defRPr>
            </a:pPr>
            <a:r>
              <a:t>• PM xem evidence mới và quyết định API gate riêng.</a:t>
            </a:r>
          </a:p>
          <a:p>
            <a:pPr>
              <a:spcAft>
                <a:spcPts val="1400"/>
              </a:spcAft>
              <a:defRPr sz="2100" b="0">
                <a:solidFill>
                  <a:srgbClr val="F5F8FC"/>
                </a:solidFill>
                <a:latin typeface="Arial"/>
              </a:defRPr>
            </a:pPr>
            <a:r>
              <a:t>• UI local đã có; browser/thiết bị thật cần evidence riêng.</a:t>
            </a:r>
          </a:p>
          <a:p>
            <a:pPr>
              <a:spcAft>
                <a:spcPts val="1400"/>
              </a:spcAft>
              <a:defRPr sz="2100" b="0">
                <a:solidFill>
                  <a:srgbClr val="F5F8FC"/>
                </a:solidFill>
                <a:latin typeface="Arial"/>
              </a:defRPr>
            </a:pPr>
            <a:r>
              <a:t>• Không tự deploy, chia sẻ ngoài hoặc đánh dấu mọi task hoàn tất.</a:t>
            </a:r>
          </a:p>
        </p:txBody>
      </p:sp>
      <p:sp>
        <p:nvSpPr>
          <p:cNvPr id="10" name="TextBox 9"/>
          <p:cNvSpPr txBox="1"/>
          <p:nvPr/>
        </p:nvSpPr>
        <p:spPr>
          <a:xfrm>
            <a:off x="594360" y="6382512"/>
            <a:ext cx="10515600" cy="228600"/>
          </a:xfrm>
          <a:prstGeom prst="rect">
            <a:avLst/>
          </a:prstGeom>
          <a:noFill/>
        </p:spPr>
        <p:txBody>
          <a:bodyPr wrap="square" lIns="18288" rIns="18288" tIns="18288" bIns="18288">
            <a:spAutoFit/>
          </a:bodyPr>
          <a:lstStyle/>
          <a:p>
            <a:pPr>
              <a:spcAft>
                <a:spcPts val="1400"/>
              </a:spcAft>
              <a:defRPr sz="1100" b="0">
                <a:solidFill>
                  <a:srgbClr val="B6C8DB"/>
                </a:solidFill>
                <a:latin typeface="Arial"/>
              </a:defRPr>
            </a:pPr>
            <a:r>
              <a:t>OpenCV MVP v1.4 | UI local | Nhân sự xác nhận bắt buộc</a:t>
            </a:r>
          </a:p>
        </p:txBody>
      </p:sp>
      <p:sp>
        <p:nvSpPr>
          <p:cNvPr id="11" name="TextBox 10"/>
          <p:cNvSpPr txBox="1"/>
          <p:nvPr/>
        </p:nvSpPr>
        <p:spPr>
          <a:xfrm>
            <a:off x="11018520" y="6364224"/>
            <a:ext cx="594360" cy="274320"/>
          </a:xfrm>
          <a:prstGeom prst="rect">
            <a:avLst/>
          </a:prstGeom>
          <a:noFill/>
        </p:spPr>
        <p:txBody>
          <a:bodyPr wrap="square" lIns="18288" rIns="18288" tIns="18288" bIns="18288">
            <a:spAutoFit/>
          </a:bodyPr>
          <a:lstStyle/>
          <a:p>
            <a:pPr>
              <a:spcAft>
                <a:spcPts val="1400"/>
              </a:spcAft>
              <a:defRPr sz="1200" b="0">
                <a:solidFill>
                  <a:srgbClr val="FFD18A"/>
                </a:solidFill>
                <a:latin typeface="Arial"/>
              </a:defRPr>
            </a:pPr>
            <a:r>
              <a:t>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