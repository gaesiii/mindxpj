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0:00–0:50. Giới thiệu bài toán và vai trò. Nói rõ UI local được người dùng cho phép trước gate ngày18/10/2026; browser/camera cần evidence riêng. Không công bố độ chính xác hoặc chống giả khi chưa có đánh giá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0:50–1:40. Trình bày đường đi dữ liệu. Enrollment và ảnh đánh giá phải tách biệt. UNKNOWN, nhiều mặt hoặc ảnh mờ chuyển chụp lại/manual. PRESENT chỉ được ghi sau xác nhận hợp lệ; không tự suy đồng phục đạt.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1:40–2:25. Haar phát hiện vị trí mặt, LBPH so khớp trong roster, HSV chỉ đo màu vùng áo. Service attendance là nơi ghi kết quả. Mẫu lưu private trong DB; frame phân tích không lưu. QR mặc định tắt, dữ liệu và migrations cũ giữ lại.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2:25–3:50. Mở http://127.0.0.1:8000/; API client api-requests.http là dự phòng. UI dùng API cũ và quyền cũ. Mẫu multipart images lặp 3–10 file; scan chỉ một image, không student_id. Nhìn người thực tế trước confirm. arrived_at lấy scanned_at server. Chỉ chọn COMPLIANT sau kiểm tra thực tế; có thể bỏ uniform để kiểm tra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3:50–4:40. Cho thấy một trường hợp không nhận diện hoặc dùng dữ liệu thử có nhãn. Không sửa student_id để chọn người trong confirm. Mẫu mới/xóa mẫu, manual, transfer và close làm proposal cũ không còn dùng để ghi attendance.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4:40–5:35. Mở evidence mới của backend thay vì đọc số test trên slide. Không lấy126test QR lịch sử làm kết quả vision. Giải thích phần nào dùng fixture/mocked detection và phần nào chạy LBPH/HSV thật. Checklist thiết bị thật chưa hoàn tất nếu chưa có log và reviewer.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5:35–6:30, dành phần còn lại cho câu hỏi. Cần đánh giá trên bộ ảnh được phép, tách enrollment/evaluation trước mọi tuyên bố accuracy. Rate limit không phải rolling window hoặc giới hạn toàn hệ thống nhiều process. UI local đã được cho phép trước gate bằng yêu cầu làm luôn UI để demo. Ngoại lệ không phê duyệt API hoặc deploy.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Điểm danh với OpenCV</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MVP v1.3 • Django UI local • Demo 5–7 phút</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Bài toán</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Ghi nhận có mặt, giờ đến và đồng phục theo từng buổi học.</a:t>
            </a:r>
          </a:p>
          <a:p>
            <a:pPr>
              <a:spcAft>
                <a:spcPts val="1400"/>
              </a:spcAft>
              <a:defRPr sz="2100" b="0">
                <a:solidFill>
                  <a:srgbClr val="F5F8FC"/>
                </a:solidFill>
                <a:latin typeface="Arial"/>
              </a:defRPr>
            </a:pPr>
            <a:r>
              <a:t>• GVCN xem lớp được giao; giám thị quản lý toàn bộ.</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Nguyên tắc</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OpenCV chỉ gợi ý; nhân sự kiểm tra người thực tế rồi xác nhận.</a:t>
            </a:r>
          </a:p>
          <a:p>
            <a:pPr>
              <a:spcAft>
                <a:spcPts val="1400"/>
              </a:spcAft>
              <a:defRPr sz="2100" b="0">
                <a:solidFill>
                  <a:srgbClr val="F5F8FC"/>
                </a:solidFill>
                <a:latin typeface="Arial"/>
              </a:defRPr>
            </a:pPr>
            <a:r>
              <a:t>• Không chắc chắn hoặc camera lỗi: điểm danh thủ công.</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Một ảnh → một đề xuất → xác nhận</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Scan không tự ghi PRESENT</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1. Chuẩn bị</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Nhân sự đăng nhập và mở buổi đúng quyền, ngày và khung giờ.</a:t>
            </a:r>
          </a:p>
          <a:p>
            <a:pPr>
              <a:spcAft>
                <a:spcPts val="1400"/>
              </a:spcAft>
              <a:defRPr sz="2100" b="0">
                <a:solidFill>
                  <a:srgbClr val="F5F8FC"/>
                </a:solidFill>
                <a:latin typeface="Arial"/>
              </a:defRPr>
            </a:pPr>
            <a:r>
              <a:t>• Đăng ký riêng 3–10 mẫu của mỗi người; ảnh hồ sơ không tự thành mẫu.</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2. Gợi ý và quyết định</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Gửi một ảnh: ứng viên + màu áo; proposal PENDING tối đa 120 giây.</a:t>
            </a:r>
          </a:p>
          <a:p>
            <a:pPr>
              <a:spcAft>
                <a:spcPts val="1400"/>
              </a:spcAft>
              <a:defRPr sz="2100" b="0">
                <a:solidFill>
                  <a:srgbClr val="F5F8FC"/>
                </a:solidFill>
                <a:latin typeface="Arial"/>
              </a:defRPr>
            </a:pPr>
            <a:r>
              <a:t>• Nhìn người thật → xác nhận danh tính → attendance source VISION.</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Kiến trúc cục bộ, dữ liệu private</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Django session + CSRF + kiểm tra phạm vi lớp ở từng API</a:t>
            </a:r>
          </a:p>
        </p:txBody>
      </p:sp>
      <p:sp>
        <p:nvSpPr>
          <p:cNvPr id="4" name="Rounded Rectangle 3"/>
          <p:cNvSpPr/>
          <p:nvPr/>
        </p:nvSpPr>
        <p:spPr>
          <a:xfrm>
            <a:off x="594360"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Django UI local</a:t>
            </a:r>
          </a:p>
        </p:txBody>
      </p:sp>
      <p:sp>
        <p:nvSpPr>
          <p:cNvPr id="6" name="TextBox 5"/>
          <p:cNvSpPr txBox="1"/>
          <p:nvPr/>
        </p:nvSpPr>
        <p:spPr>
          <a:xfrm>
            <a:off x="758952"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Cookie/session của staff</a:t>
            </a:r>
          </a:p>
          <a:p>
            <a:pPr>
              <a:spcAft>
                <a:spcPts val="1400"/>
              </a:spcAft>
              <a:defRPr sz="2000" b="0">
                <a:solidFill>
                  <a:srgbClr val="F5F8FC"/>
                </a:solidFill>
                <a:latin typeface="Arial"/>
              </a:defRPr>
            </a:pPr>
            <a:r>
              <a:t>Camera hoặc upload ảnh</a:t>
            </a:r>
          </a:p>
          <a:p>
            <a:pPr>
              <a:spcAft>
                <a:spcPts val="1400"/>
              </a:spcAft>
              <a:defRPr sz="2000" b="0">
                <a:solidFill>
                  <a:srgbClr val="F5F8FC"/>
                </a:solidFill>
                <a:latin typeface="Arial"/>
              </a:defRPr>
            </a:pPr>
            <a:r>
              <a:t>Ngoại lệ trước API gate</a:t>
            </a:r>
          </a:p>
        </p:txBody>
      </p:sp>
      <p:sp>
        <p:nvSpPr>
          <p:cNvPr id="7" name="Rounded Rectangle 6"/>
          <p:cNvSpPr/>
          <p:nvPr/>
        </p:nvSpPr>
        <p:spPr>
          <a:xfrm>
            <a:off x="3447288"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Vision</a:t>
            </a:r>
          </a:p>
        </p:txBody>
      </p:sp>
      <p:sp>
        <p:nvSpPr>
          <p:cNvPr id="9" name="TextBox 8"/>
          <p:cNvSpPr txBox="1"/>
          <p:nvPr/>
        </p:nvSpPr>
        <p:spPr>
          <a:xfrm>
            <a:off x="3611880"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Haar phát hiện mặt</a:t>
            </a:r>
          </a:p>
          <a:p>
            <a:pPr>
              <a:spcAft>
                <a:spcPts val="1400"/>
              </a:spcAft>
              <a:defRPr sz="2000" b="0">
                <a:solidFill>
                  <a:srgbClr val="F5F8FC"/>
                </a:solidFill>
                <a:latin typeface="Arial"/>
              </a:defRPr>
            </a:pPr>
            <a:r>
              <a:t>LBPH gợi ý danh tính</a:t>
            </a:r>
          </a:p>
          <a:p>
            <a:pPr>
              <a:spcAft>
                <a:spcPts val="1400"/>
              </a:spcAft>
              <a:defRPr sz="2000" b="0">
                <a:solidFill>
                  <a:srgbClr val="F5F8FC"/>
                </a:solidFill>
                <a:latin typeface="Arial"/>
              </a:defRPr>
            </a:pPr>
            <a:r>
              <a:t>HSV gợi ý màu áo</a:t>
            </a:r>
          </a:p>
        </p:txBody>
      </p:sp>
      <p:sp>
        <p:nvSpPr>
          <p:cNvPr id="10" name="Rounded Rectangle 9"/>
          <p:cNvSpPr/>
          <p:nvPr/>
        </p:nvSpPr>
        <p:spPr>
          <a:xfrm>
            <a:off x="6300216"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Attendance</a:t>
            </a:r>
          </a:p>
        </p:txBody>
      </p:sp>
      <p:sp>
        <p:nvSpPr>
          <p:cNvPr id="12" name="TextBox 11"/>
          <p:cNvSpPr txBox="1"/>
          <p:nvPr/>
        </p:nvSpPr>
        <p:spPr>
          <a:xfrm>
            <a:off x="6464808"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Staff confirm + version</a:t>
            </a:r>
          </a:p>
          <a:p>
            <a:pPr>
              <a:spcAft>
                <a:spcPts val="1400"/>
              </a:spcAft>
              <a:defRPr sz="2000" b="0">
                <a:solidFill>
                  <a:srgbClr val="F5F8FC"/>
                </a:solidFill>
                <a:latin typeface="Arial"/>
              </a:defRPr>
            </a:pPr>
            <a:r>
              <a:t>Idempotency + ChangeLog</a:t>
            </a:r>
          </a:p>
          <a:p>
            <a:pPr>
              <a:spcAft>
                <a:spcPts val="1400"/>
              </a:spcAft>
              <a:defRPr sz="2000" b="0">
                <a:solidFill>
                  <a:srgbClr val="F5F8FC"/>
                </a:solidFill>
                <a:latin typeface="Arial"/>
              </a:defRPr>
            </a:pPr>
            <a:r>
              <a:t>Manual fallback</a:t>
            </a:r>
          </a:p>
        </p:txBody>
      </p:sp>
      <p:sp>
        <p:nvSpPr>
          <p:cNvPr id="13" name="Rounded Rectangle 12"/>
          <p:cNvSpPr/>
          <p:nvPr/>
        </p:nvSpPr>
        <p:spPr>
          <a:xfrm>
            <a:off x="9153144"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17736"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Report / DB</a:t>
            </a:r>
          </a:p>
        </p:txBody>
      </p:sp>
      <p:sp>
        <p:nvSpPr>
          <p:cNvPr id="15" name="TextBox 14"/>
          <p:cNvSpPr txBox="1"/>
          <p:nvPr/>
        </p:nvSpPr>
        <p:spPr>
          <a:xfrm>
            <a:off x="9317736"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JSON, XLSX, CSV</a:t>
            </a:r>
          </a:p>
          <a:p>
            <a:pPr>
              <a:spcAft>
                <a:spcPts val="1400"/>
              </a:spcAft>
              <a:defRPr sz="2000" b="0">
                <a:solidFill>
                  <a:srgbClr val="F5F8FC"/>
                </a:solidFill>
                <a:latin typeface="Arial"/>
              </a:defRPr>
            </a:pPr>
            <a:r>
              <a:t>Crop mẫu 128×128 private</a:t>
            </a:r>
          </a:p>
          <a:p>
            <a:pPr>
              <a:spcAft>
                <a:spcPts val="1400"/>
              </a:spcAft>
              <a:defRPr sz="2000" b="0">
                <a:solidFill>
                  <a:srgbClr val="F5F8FC"/>
                </a:solidFill>
                <a:latin typeface="Arial"/>
              </a:defRPr>
            </a:pPr>
            <a:r>
              <a:t>Không lưu frame/video</a:t>
            </a:r>
          </a:p>
        </p:txBody>
      </p:sp>
      <p:sp>
        <p:nvSpPr>
          <p:cNvPr id="16" name="TextBox 15"/>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7" name="TextBox 16"/>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Demo trực tiếp bằng UI local</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Thực hiện trên DB thử riêng và ảnh được phép sử dụng</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Chuẩn bị / phân tích</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1. Đăng nhập staff; chọn lớp và tạo/mở buổi đúng quyền.</a:t>
            </a:r>
          </a:p>
          <a:p>
            <a:pPr>
              <a:spcAft>
                <a:spcPts val="1400"/>
              </a:spcAft>
              <a:defRPr sz="2100" b="0">
                <a:solidFill>
                  <a:srgbClr val="F5F8FC"/>
                </a:solidFill>
                <a:latin typeface="Arial"/>
              </a:defRPr>
            </a:pPr>
            <a:r>
              <a:t>• 2. Mục Học sinh: đăng ký 3–10 ảnh mẫu riêng.</a:t>
            </a:r>
          </a:p>
          <a:p>
            <a:pPr>
              <a:spcAft>
                <a:spcPts val="1400"/>
              </a:spcAft>
              <a:defRPr sz="2100" b="0">
                <a:solidFill>
                  <a:srgbClr val="F5F8FC"/>
                </a:solidFill>
                <a:latin typeface="Arial"/>
              </a:defRPr>
            </a:pPr>
            <a:r>
              <a:t>• 3. Camera/upload → phân tích: PENDING, chưa ghi có mặt.</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Xác nhận / đối soát</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4. Nhìn người thật rồi xác nhận danh tính; kiểm tra áo.</a:t>
            </a:r>
          </a:p>
          <a:p>
            <a:pPr>
              <a:spcAft>
                <a:spcPts val="1400"/>
              </a:spcAft>
              <a:defRPr sz="2100" b="0">
                <a:solidFill>
                  <a:srgbClr val="F5F8FC"/>
                </a:solidFill>
                <a:latin typeface="Arial"/>
              </a:defRPr>
            </a:pPr>
            <a:r>
              <a:t>• 5. Thử reject/manual; kiểm tra kết quả và source VISION.</a:t>
            </a:r>
          </a:p>
          <a:p>
            <a:pPr>
              <a:spcAft>
                <a:spcPts val="1400"/>
              </a:spcAft>
              <a:defRPr sz="2100" b="0">
                <a:solidFill>
                  <a:srgbClr val="F5F8FC"/>
                </a:solidFill>
                <a:latin typeface="Arial"/>
              </a:defRPr>
            </a:pPr>
            <a:r>
              <a:t>• 6. Chốt buổi; mở báo cáo, tải XLSX/CSV cùng bộ lọc.</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Tình huống lỗi và đường thủ công</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Không biến kết quả chưa chắc chắn thành có mặt hoặc vi phạm</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Ảnh / đồng phục</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Mặt lạ, mờ, nhiều mặt hoặc ứng viên sát nhau: chụp lại/manual.</a:t>
            </a:r>
          </a:p>
          <a:p>
            <a:pPr>
              <a:spcAft>
                <a:spcPts val="1400"/>
              </a:spcAft>
              <a:defRPr sz="2100" b="0">
                <a:solidFill>
                  <a:srgbClr val="F5F8FC"/>
                </a:solidFill>
                <a:latin typeface="Arial"/>
              </a:defRPr>
            </a:pPr>
            <a:r>
              <a:t>• Áo bị che, thiếu vùng thân, màu không trội: UNKNOWN.</a:t>
            </a:r>
          </a:p>
          <a:p>
            <a:pPr>
              <a:spcAft>
                <a:spcPts val="1400"/>
              </a:spcAft>
              <a:defRPr sz="2100" b="0">
                <a:solidFill>
                  <a:srgbClr val="F5F8FC"/>
                </a:solidFill>
                <a:latin typeface="Arial"/>
              </a:defRPr>
            </a:pPr>
            <a:r>
              <a:t>• HSV không nhận biết logo, chất liệu hay đồng phục đầy đủ.</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Trạng thái / quyền</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Scan hết hạn, mẫu/version đổi, buổi đóng: không confirm mới.</a:t>
            </a:r>
          </a:p>
          <a:p>
            <a:pPr>
              <a:spcAft>
                <a:spcPts val="1400"/>
              </a:spcAft>
              <a:defRPr sz="2100" b="0">
                <a:solidFill>
                  <a:srgbClr val="F5F8FC"/>
                </a:solidFill>
                <a:latin typeface="Arial"/>
              </a:defRPr>
            </a:pPr>
            <a:r>
              <a:t>• GVCN khác lớp và học sinh bị chặn các API vision.</a:t>
            </a:r>
          </a:p>
          <a:p>
            <a:pPr>
              <a:spcAft>
                <a:spcPts val="1400"/>
              </a:spcAft>
              <a:defRPr sz="2100" b="0">
                <a:solidFill>
                  <a:srgbClr val="F5F8FC"/>
                </a:solidFill>
                <a:latin typeface="Arial"/>
              </a:defRPr>
            </a:pPr>
            <a:r>
              <a:t>• Mất camera/mạng: kiểm tra retry và chuyển manual.</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Kiểm chứng và bằng chứng</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Chỉ trình bày kết quả từ log kiểm chứng hiện tại</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Backend / dữ liệu</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Test scope, ảnh, matching, expiry, version, retry và rollback.</a:t>
            </a:r>
          </a:p>
          <a:p>
            <a:pPr>
              <a:spcAft>
                <a:spcPts val="1400"/>
              </a:spcAft>
              <a:defRPr sz="2100" b="0">
                <a:solidFill>
                  <a:srgbClr val="F5F8FC"/>
                </a:solidFill>
                <a:latin typeface="Arial"/>
              </a:defRPr>
            </a:pPr>
            <a:r>
              <a:t>• Migrate DB mới/nâng cấp; check, migration drift và pip check.</a:t>
            </a:r>
          </a:p>
          <a:p>
            <a:pPr>
              <a:spcAft>
                <a:spcPts val="1400"/>
              </a:spcAft>
              <a:defRPr sz="2100" b="0">
                <a:solidFill>
                  <a:srgbClr val="F5F8FC"/>
                </a:solidFill>
                <a:latin typeface="Arial"/>
              </a:defRPr>
            </a:pPr>
            <a:r>
              <a:t>• Mở lại XLSX/CSV, so chi tiết và tổng với API.</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Thiết bị / review</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Fixture synthetic hoặc mock detector không chứng minh camera thật.</a:t>
            </a:r>
          </a:p>
          <a:p>
            <a:pPr>
              <a:spcAft>
                <a:spcPts val="1400"/>
              </a:spcAft>
              <a:defRPr sz="2100" b="0">
                <a:solidFill>
                  <a:srgbClr val="F5F8FC"/>
                </a:solidFill>
                <a:latin typeface="Arial"/>
              </a:defRPr>
            </a:pPr>
            <a:r>
              <a:t>• Thử ánh sáng, góc mặt, người lạ, áo bị che trên thiết bị thật.</a:t>
            </a:r>
          </a:p>
          <a:p>
            <a:pPr>
              <a:spcAft>
                <a:spcPts val="1400"/>
              </a:spcAft>
              <a:defRPr sz="2100" b="0">
                <a:solidFill>
                  <a:srgbClr val="F5F8FC"/>
                </a:solidFill>
                <a:latin typeface="Arial"/>
              </a:defRPr>
            </a:pPr>
            <a:r>
              <a:t>• Implementation + validation + review trước khi tick Finish?.</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Giới hạn và bước tiếp theo</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API_Gate = NOT_APPROVED • UI local là ngoại lệ do người dùng yêu cầu</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Giới hạn demo</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Chưa có số liệu độ chính xác camera thật; không bảo đảm liveness.</a:t>
            </a:r>
          </a:p>
          <a:p>
            <a:pPr>
              <a:spcAft>
                <a:spcPts val="1400"/>
              </a:spcAft>
              <a:defRPr sz="2100" b="0">
                <a:solidFill>
                  <a:srgbClr val="F5F8FC"/>
                </a:solidFill>
                <a:latin typeface="Arial"/>
              </a:defRPr>
            </a:pPr>
            <a:r>
              <a:t>• HSV là heuristic màu; SQLite và cache dùng cho demo nhỏ.</a:t>
            </a:r>
          </a:p>
          <a:p>
            <a:pPr>
              <a:spcAft>
                <a:spcPts val="1400"/>
              </a:spcAft>
              <a:defRPr sz="2100" b="0">
                <a:solidFill>
                  <a:srgbClr val="F5F8FC"/>
                </a:solidFill>
                <a:latin typeface="Arial"/>
              </a:defRPr>
            </a:pPr>
            <a:r>
              <a:t>• Quota 20 phân tích/phút/actor: phút cố định, cache từng process.</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Bàn giao</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PM xem evidence mới và quyết định API gate riêng.</a:t>
            </a:r>
          </a:p>
          <a:p>
            <a:pPr>
              <a:spcAft>
                <a:spcPts val="1400"/>
              </a:spcAft>
              <a:defRPr sz="2100" b="0">
                <a:solidFill>
                  <a:srgbClr val="F5F8FC"/>
                </a:solidFill>
                <a:latin typeface="Arial"/>
              </a:defRPr>
            </a:pPr>
            <a:r>
              <a:t>• UI local đã có; browser/thiết bị thật cần evidence riêng.</a:t>
            </a:r>
          </a:p>
          <a:p>
            <a:pPr>
              <a:spcAft>
                <a:spcPts val="1400"/>
              </a:spcAft>
              <a:defRPr sz="2100" b="0">
                <a:solidFill>
                  <a:srgbClr val="F5F8FC"/>
                </a:solidFill>
                <a:latin typeface="Arial"/>
              </a:defRPr>
            </a:pPr>
            <a:r>
              <a:t>• Không tự deploy, chia sẻ ngoài hoặc đánh dấu mọi task hoàn tất.</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v1.3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